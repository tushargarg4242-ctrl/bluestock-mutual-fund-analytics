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embeddedFontLst>
    <p:embeddedFont>
      <p:font typeface="Lato Bold"/>
      <p:regular r:id="rId201314"/>
    </p:embeddedFont>
    <p:embeddedFont>
      <p:font typeface="Lato"/>
      <p:regular r:id="rId20131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DD6CC"/>
          </a:solidFill>
          <a:ln/>
        </p:spPr>
      </p:sp>
      <p:sp>
        <p:nvSpPr>
          <p:cNvPr id="3" name="Shape 1"/>
          <p:cNvSpPr/>
          <p:nvPr/>
        </p:nvSpPr>
        <p:spPr>
          <a:xfrm>
            <a:off x="0" y="0"/>
            <a:ext cx="9144000" cy="5143500"/>
          </a:xfrm>
          <a:prstGeom prst="rect">
            <a:avLst/>
          </a:prstGeom>
          <a:solidFill>
            <a:srgbClr val="EFECE6"/>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2.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3.png"/><Relationship Id="rId4" Type="http://schemas.openxmlformats.org/officeDocument/2006/relationships/image" Target="../media/image-9-4.svg"/><Relationship Id="rId5" Type="http://schemas.openxmlformats.org/officeDocument/2006/relationships/image" Target="../media/image-9-5.png"/><Relationship Id="rId6" Type="http://schemas.openxmlformats.org/officeDocument/2006/relationships/image" Target="../media/image-9-6.svg"/><Relationship Id="rId7" Type="http://schemas.openxmlformats.org/officeDocument/2006/relationships/slideLayout" Target="../slideLayouts/slideLayout2.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715000" y="0"/>
            <a:ext cx="3429000" cy="5143500"/>
          </a:xfrm>
          <a:prstGeom prst="rect">
            <a:avLst/>
          </a:prstGeom>
        </p:spPr>
      </p:pic>
      <p:sp>
        <p:nvSpPr>
          <p:cNvPr id="3" name="Text 0"/>
          <p:cNvSpPr/>
          <p:nvPr/>
        </p:nvSpPr>
        <p:spPr>
          <a:xfrm>
            <a:off x="496119" y="1213693"/>
            <a:ext cx="4722763" cy="775097"/>
          </a:xfrm>
          <a:prstGeom prst="rect">
            <a:avLst/>
          </a:prstGeom>
          <a:noFill/>
          <a:ln/>
        </p:spPr>
        <p:txBody>
          <a:bodyPr wrap="square" lIns="0" tIns="0" rIns="0" bIns="0" rtlCol="0" anchor="t">
            <a:normAutofit/>
          </a:bodyPr>
          <a:lstStyle/>
          <a:p>
            <a:pPr algn="l" indent="0" marL="0">
              <a:lnSpc>
                <a:spcPct val="104000"/>
              </a:lnSpc>
              <a:buNone/>
            </a:pPr>
            <a:r>
              <a:rPr lang="en-US" sz="2400" b="1" dirty="0">
                <a:solidFill>
                  <a:srgbClr val="282824"/>
                </a:solidFill>
                <a:latin typeface="Lato Bold" pitchFamily="34" charset="0"/>
                <a:ea typeface="Lato Bold" pitchFamily="34" charset="-122"/>
                <a:cs typeface="Lato Bold" pitchFamily="34" charset="-120"/>
              </a:rPr>
              <a:t>Bluestock Mutual Fund Analytics — Capstone Project</a:t>
            </a:r>
            <a:endParaRPr lang="en-US" sz="2400" dirty="0"/>
          </a:p>
        </p:txBody>
      </p:sp>
      <p:sp>
        <p:nvSpPr>
          <p:cNvPr id="4" name="Text 1"/>
          <p:cNvSpPr/>
          <p:nvPr/>
        </p:nvSpPr>
        <p:spPr>
          <a:xfrm>
            <a:off x="496119" y="2174825"/>
            <a:ext cx="4722763" cy="992312"/>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4A4A45"/>
                </a:solidFill>
                <a:latin typeface="Lato" pitchFamily="34" charset="0"/>
                <a:ea typeface="Lato" pitchFamily="34" charset="-122"/>
                <a:cs typeface="Lato" pitchFamily="34" charset="-120"/>
              </a:rPr>
              <a:t>     This capstone transforms fragmented mutual fund datasets into a centralized analytics solution. It combines data engineering (Python ETL), a SQLite analytical database, SQL-driven analysis, exploratory data analysis (EDA), and a four‑page Power BI dashboard that surfaces industry growth, fund performance, investor behaviour, and SIP market trends for stakeholders.   </a:t>
            </a:r>
            <a:endParaRPr lang="en-US" sz="950" dirty="0"/>
          </a:p>
        </p:txBody>
      </p:sp>
      <p:sp>
        <p:nvSpPr>
          <p:cNvPr id="5" name="Shape 2"/>
          <p:cNvSpPr/>
          <p:nvPr/>
        </p:nvSpPr>
        <p:spPr>
          <a:xfrm>
            <a:off x="496119" y="3306663"/>
            <a:ext cx="4722763" cy="483617"/>
          </a:xfrm>
          <a:prstGeom prst="roundRect">
            <a:avLst>
              <a:gd name="adj" fmla="val 3847"/>
            </a:avLst>
          </a:prstGeom>
          <a:solidFill>
            <a:srgbClr val="B6D6FC"/>
          </a:solidFill>
          <a:ln/>
        </p:spPr>
      </p:sp>
      <p:pic>
        <p:nvPicPr>
          <p:cNvPr id="6" name="Image 1" descr="preencoded.png">    </p:cNvPr>
          <p:cNvPicPr>
            <a:picLocks noChangeAspect="1"/>
          </p:cNvPicPr>
          <p:nvPr/>
        </p:nvPicPr>
        <p:blipFill>
          <a:blip r:embed="rId2"/>
          <a:stretch>
            <a:fillRect/>
          </a:stretch>
        </p:blipFill>
        <p:spPr>
          <a:xfrm>
            <a:off x="620092" y="3486448"/>
            <a:ext cx="155004" cy="123974"/>
          </a:xfrm>
          <a:prstGeom prst="rect">
            <a:avLst/>
          </a:prstGeom>
        </p:spPr>
      </p:pic>
      <p:sp>
        <p:nvSpPr>
          <p:cNvPr id="7" name="Text 3"/>
          <p:cNvSpPr/>
          <p:nvPr/>
        </p:nvSpPr>
        <p:spPr>
          <a:xfrm>
            <a:off x="899071" y="3449241"/>
            <a:ext cx="4653037" cy="198462"/>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latin typeface="Lato" pitchFamily="34" charset="0"/>
                <a:ea typeface="Lato" pitchFamily="34" charset="-122"/>
                <a:cs typeface="Lato" pitchFamily="34" charset="-120"/>
              </a:rPr>
              <a:t>     Theme color: </a:t>
            </a:r>
            <a:pPr algn="l" indent="0" marL="0">
              <a:lnSpc>
                <a:spcPct val="133000"/>
              </a:lnSpc>
              <a:buNone/>
            </a:pPr>
            <a:r>
              <a:rPr lang="en-US" sz="950" dirty="0">
                <a:solidFill>
                  <a:srgbClr val="6237C8"/>
                </a:solidFill>
                <a:latin typeface="Lato" pitchFamily="34" charset="0"/>
                <a:ea typeface="Lato" pitchFamily="34" charset="-122"/>
                <a:cs typeface="Lato" pitchFamily="34" charset="-120"/>
              </a:rPr>
              <a:t>#6237C8</a:t>
            </a:r>
            <a:pPr algn="l" indent="0" marL="0">
              <a:lnSpc>
                <a:spcPct val="133000"/>
              </a:lnSpc>
              <a:buNone/>
            </a:pPr>
            <a:r>
              <a:rPr lang="en-US" sz="950" dirty="0">
                <a:solidFill>
                  <a:srgbClr val="000000"/>
                </a:solidFill>
                <a:latin typeface="Lato" pitchFamily="34" charset="0"/>
                <a:ea typeface="Lato" pitchFamily="34" charset="-122"/>
                <a:cs typeface="Lato" pitchFamily="34" charset="-120"/>
              </a:rPr>
              <a:t> — used across visuals for emphasis and cohesion.</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429000" cy="5143500"/>
          </a:xfrm>
          <a:prstGeom prst="rect">
            <a:avLst/>
          </a:prstGeom>
        </p:spPr>
      </p:pic>
      <p:sp>
        <p:nvSpPr>
          <p:cNvPr id="3" name="Text 0"/>
          <p:cNvSpPr/>
          <p:nvPr/>
        </p:nvSpPr>
        <p:spPr>
          <a:xfrm>
            <a:off x="3925119" y="433908"/>
            <a:ext cx="4722763" cy="775097"/>
          </a:xfrm>
          <a:prstGeom prst="rect">
            <a:avLst/>
          </a:prstGeom>
          <a:noFill/>
          <a:ln/>
        </p:spPr>
        <p:txBody>
          <a:bodyPr wrap="square" lIns="0" tIns="0" rIns="0" bIns="0" rtlCol="0" anchor="t">
            <a:normAutofit/>
          </a:bodyPr>
          <a:lstStyle/>
          <a:p>
            <a:pPr algn="l" indent="0" marL="0">
              <a:lnSpc>
                <a:spcPct val="104000"/>
              </a:lnSpc>
              <a:buNone/>
            </a:pPr>
            <a:r>
              <a:rPr lang="en-US" sz="2400" b="1" dirty="0">
                <a:solidFill>
                  <a:srgbClr val="282824"/>
                </a:solidFill>
                <a:latin typeface="Lato Bold" pitchFamily="34" charset="0"/>
                <a:ea typeface="Lato Bold" pitchFamily="34" charset="-122"/>
                <a:cs typeface="Lato Bold" pitchFamily="34" charset="-120"/>
              </a:rPr>
              <a:t>Executive Summary &amp; Project Objectives</a:t>
            </a:r>
            <a:endParaRPr lang="en-US" sz="2400" dirty="0"/>
          </a:p>
        </p:txBody>
      </p:sp>
      <p:sp>
        <p:nvSpPr>
          <p:cNvPr id="4" name="Shape 1"/>
          <p:cNvSpPr/>
          <p:nvPr/>
        </p:nvSpPr>
        <p:spPr>
          <a:xfrm>
            <a:off x="3925119" y="1395040"/>
            <a:ext cx="2299395" cy="1508522"/>
          </a:xfrm>
          <a:prstGeom prst="roundRect">
            <a:avLst>
              <a:gd name="adj" fmla="val 1233"/>
            </a:avLst>
          </a:prstGeom>
          <a:solidFill>
            <a:srgbClr val="E5DFD2"/>
          </a:solidFill>
          <a:ln/>
        </p:spPr>
      </p:sp>
      <p:sp>
        <p:nvSpPr>
          <p:cNvPr id="5" name="Text 2"/>
          <p:cNvSpPr/>
          <p:nvPr/>
        </p:nvSpPr>
        <p:spPr>
          <a:xfrm>
            <a:off x="4049092" y="1519014"/>
            <a:ext cx="1550566" cy="193849"/>
          </a:xfrm>
          <a:prstGeom prst="rect">
            <a:avLst/>
          </a:prstGeom>
          <a:noFill/>
          <a:ln/>
        </p:spPr>
        <p:txBody>
          <a:bodyPr wrap="none" lIns="0" tIns="0" rIns="0" bIns="0" rtlCol="0" anchor="t"/>
          <a:lstStyle/>
          <a:p>
            <a:pPr algn="l" indent="0" marL="0">
              <a:lnSpc>
                <a:spcPct val="104000"/>
              </a:lnSpc>
              <a:buNone/>
            </a:pPr>
            <a:r>
              <a:rPr lang="en-US" sz="1200" b="1" dirty="0">
                <a:solidFill>
                  <a:srgbClr val="4A4A45"/>
                </a:solidFill>
                <a:latin typeface="Lato Bold" pitchFamily="34" charset="0"/>
                <a:ea typeface="Lato Bold" pitchFamily="34" charset="-122"/>
                <a:cs typeface="Lato Bold" pitchFamily="34" charset="-120"/>
              </a:rPr>
              <a:t>Context</a:t>
            </a:r>
            <a:endParaRPr lang="en-US" sz="1200" dirty="0"/>
          </a:p>
        </p:txBody>
      </p:sp>
      <p:sp>
        <p:nvSpPr>
          <p:cNvPr id="6" name="Text 3"/>
          <p:cNvSpPr/>
          <p:nvPr/>
        </p:nvSpPr>
        <p:spPr>
          <a:xfrm>
            <a:off x="4049092" y="1787277"/>
            <a:ext cx="2051447" cy="992312"/>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4A4A45"/>
                </a:solidFill>
                <a:latin typeface="Lato" pitchFamily="34" charset="0"/>
                <a:ea typeface="Lato" pitchFamily="34" charset="-122"/>
                <a:cs typeface="Lato" pitchFamily="34" charset="-120"/>
              </a:rPr>
              <a:t>Indian mutual fund adoption has accelerated: rising SIP contributions, broader investor participation, and stronger market awareness drove this analysis.</a:t>
            </a:r>
            <a:endParaRPr lang="en-US" sz="950" dirty="0"/>
          </a:p>
        </p:txBody>
      </p:sp>
      <p:sp>
        <p:nvSpPr>
          <p:cNvPr id="7" name="Shape 4"/>
          <p:cNvSpPr/>
          <p:nvPr/>
        </p:nvSpPr>
        <p:spPr>
          <a:xfrm>
            <a:off x="6348487" y="1395040"/>
            <a:ext cx="2299395" cy="1508522"/>
          </a:xfrm>
          <a:prstGeom prst="roundRect">
            <a:avLst>
              <a:gd name="adj" fmla="val 1233"/>
            </a:avLst>
          </a:prstGeom>
          <a:solidFill>
            <a:srgbClr val="E5DFD2"/>
          </a:solidFill>
          <a:ln/>
        </p:spPr>
      </p:sp>
      <p:sp>
        <p:nvSpPr>
          <p:cNvPr id="8" name="Text 5"/>
          <p:cNvSpPr/>
          <p:nvPr/>
        </p:nvSpPr>
        <p:spPr>
          <a:xfrm>
            <a:off x="6472461" y="1519014"/>
            <a:ext cx="1550566" cy="193849"/>
          </a:xfrm>
          <a:prstGeom prst="rect">
            <a:avLst/>
          </a:prstGeom>
          <a:noFill/>
          <a:ln/>
        </p:spPr>
        <p:txBody>
          <a:bodyPr wrap="none" lIns="0" tIns="0" rIns="0" bIns="0" rtlCol="0" anchor="t"/>
          <a:lstStyle/>
          <a:p>
            <a:pPr algn="l" indent="0" marL="0">
              <a:lnSpc>
                <a:spcPct val="104000"/>
              </a:lnSpc>
              <a:buNone/>
            </a:pPr>
            <a:r>
              <a:rPr lang="en-US" sz="1200" b="1" dirty="0">
                <a:solidFill>
                  <a:srgbClr val="4A4A45"/>
                </a:solidFill>
                <a:latin typeface="Lato Bold" pitchFamily="34" charset="0"/>
                <a:ea typeface="Lato Bold" pitchFamily="34" charset="-122"/>
                <a:cs typeface="Lato Bold" pitchFamily="34" charset="-120"/>
              </a:rPr>
              <a:t>Goal</a:t>
            </a:r>
            <a:endParaRPr lang="en-US" sz="1200" dirty="0"/>
          </a:p>
        </p:txBody>
      </p:sp>
      <p:sp>
        <p:nvSpPr>
          <p:cNvPr id="9" name="Text 6"/>
          <p:cNvSpPr/>
          <p:nvPr/>
        </p:nvSpPr>
        <p:spPr>
          <a:xfrm>
            <a:off x="6472461" y="1787277"/>
            <a:ext cx="2051447" cy="79384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4A4A45"/>
                </a:solidFill>
                <a:latin typeface="Lato" pitchFamily="34" charset="0"/>
                <a:ea typeface="Lato" pitchFamily="34" charset="-122"/>
                <a:cs typeface="Lato" pitchFamily="34" charset="-120"/>
              </a:rPr>
              <a:t>Convert raw mutual fund datasets into actionable business intelligence to support investment analysis and decision-making.</a:t>
            </a:r>
            <a:endParaRPr lang="en-US" sz="950" dirty="0"/>
          </a:p>
        </p:txBody>
      </p:sp>
      <p:sp>
        <p:nvSpPr>
          <p:cNvPr id="10" name="Shape 7"/>
          <p:cNvSpPr/>
          <p:nvPr/>
        </p:nvSpPr>
        <p:spPr>
          <a:xfrm>
            <a:off x="3925119" y="3027536"/>
            <a:ext cx="4722763" cy="1682055"/>
          </a:xfrm>
          <a:prstGeom prst="roundRect">
            <a:avLst>
              <a:gd name="adj" fmla="val 1106"/>
            </a:avLst>
          </a:prstGeom>
          <a:solidFill>
            <a:srgbClr val="E5DFD2"/>
          </a:solidFill>
          <a:ln/>
        </p:spPr>
      </p:sp>
      <p:sp>
        <p:nvSpPr>
          <p:cNvPr id="11" name="Text 8"/>
          <p:cNvSpPr/>
          <p:nvPr/>
        </p:nvSpPr>
        <p:spPr>
          <a:xfrm>
            <a:off x="4049092" y="3151510"/>
            <a:ext cx="1550566" cy="193849"/>
          </a:xfrm>
          <a:prstGeom prst="rect">
            <a:avLst/>
          </a:prstGeom>
          <a:noFill/>
          <a:ln/>
        </p:spPr>
        <p:txBody>
          <a:bodyPr wrap="none" lIns="0" tIns="0" rIns="0" bIns="0" rtlCol="0" anchor="t"/>
          <a:lstStyle/>
          <a:p>
            <a:pPr algn="l" indent="0" marL="0">
              <a:lnSpc>
                <a:spcPct val="104000"/>
              </a:lnSpc>
              <a:buNone/>
            </a:pPr>
            <a:r>
              <a:rPr lang="en-US" sz="1200" b="1" dirty="0">
                <a:solidFill>
                  <a:srgbClr val="4A4A45"/>
                </a:solidFill>
                <a:latin typeface="Lato Bold" pitchFamily="34" charset="0"/>
                <a:ea typeface="Lato Bold" pitchFamily="34" charset="-122"/>
                <a:cs typeface="Lato Bold" pitchFamily="34" charset="-120"/>
              </a:rPr>
              <a:t>Objectives</a:t>
            </a:r>
            <a:endParaRPr lang="en-US" sz="1200" dirty="0"/>
          </a:p>
        </p:txBody>
      </p:sp>
      <p:sp>
        <p:nvSpPr>
          <p:cNvPr id="12" name="Text 9"/>
          <p:cNvSpPr/>
          <p:nvPr/>
        </p:nvSpPr>
        <p:spPr>
          <a:xfrm>
            <a:off x="4049092" y="3419773"/>
            <a:ext cx="4474815" cy="1165845"/>
          </a:xfrm>
          <a:prstGeom prst="rect">
            <a:avLst/>
          </a:prstGeom>
          <a:noFill/>
          <a:ln/>
        </p:spPr>
        <p:txBody>
          <a:bodyPr wrap="square" lIns="0" tIns="0" rIns="0" bIns="0" rtlCol="0" anchor="t">
            <a:normAutofit/>
          </a:bodyPr>
          <a:lstStyle/>
          <a:p>
            <a:pPr algn="l" marL="342900" indent="-342900">
              <a:lnSpc>
                <a:spcPct val="133000"/>
              </a:lnSpc>
              <a:buSzPct val="100000"/>
              <a:buChar char="•"/>
            </a:pPr>
            <a:r>
              <a:rPr lang="en-US" sz="950" dirty="0">
                <a:solidFill>
                  <a:srgbClr val="4A4A45"/>
                </a:solidFill>
                <a:latin typeface="Lato" pitchFamily="34" charset="0"/>
                <a:ea typeface="Lato" pitchFamily="34" charset="-122"/>
                <a:cs typeface="Lato" pitchFamily="34" charset="-120"/>
              </a:rPr>
              <a:t>Analyze industry growth</a:t>
            </a:r>
            <a:endParaRPr lang="en-US" sz="950" dirty="0"/>
          </a:p>
          <a:p>
            <a:pPr algn="l" marL="342900" indent="-342900">
              <a:lnSpc>
                <a:spcPct val="133000"/>
              </a:lnSpc>
              <a:buSzPct val="100000"/>
              <a:buChar char="•"/>
            </a:pPr>
            <a:r>
              <a:rPr lang="en-US" sz="950" dirty="0">
                <a:solidFill>
                  <a:srgbClr val="4A4A45"/>
                </a:solidFill>
                <a:latin typeface="Lato" pitchFamily="34" charset="0"/>
                <a:ea typeface="Lato" pitchFamily="34" charset="-122"/>
                <a:cs typeface="Lato" pitchFamily="34" charset="-120"/>
              </a:rPr>
              <a:t>Evaluate fund performance and risk</a:t>
            </a:r>
            <a:endParaRPr lang="en-US" sz="950" dirty="0"/>
          </a:p>
          <a:p>
            <a:pPr algn="l" marL="342900" indent="-342900">
              <a:lnSpc>
                <a:spcPct val="133000"/>
              </a:lnSpc>
              <a:buSzPct val="100000"/>
              <a:buChar char="•"/>
            </a:pPr>
            <a:r>
              <a:rPr lang="en-US" sz="950" dirty="0">
                <a:solidFill>
                  <a:srgbClr val="4A4A45"/>
                </a:solidFill>
                <a:latin typeface="Lato" pitchFamily="34" charset="0"/>
                <a:ea typeface="Lato" pitchFamily="34" charset="-122"/>
                <a:cs typeface="Lato" pitchFamily="34" charset="-120"/>
              </a:rPr>
              <a:t>Study investor behaviour and transactions</a:t>
            </a:r>
            <a:endParaRPr lang="en-US" sz="950" dirty="0"/>
          </a:p>
          <a:p>
            <a:pPr algn="l" marL="342900" indent="-342900">
              <a:lnSpc>
                <a:spcPct val="133000"/>
              </a:lnSpc>
              <a:buSzPct val="100000"/>
              <a:buChar char="•"/>
            </a:pPr>
            <a:r>
              <a:rPr lang="en-US" sz="950" dirty="0">
                <a:solidFill>
                  <a:srgbClr val="4A4A45"/>
                </a:solidFill>
                <a:latin typeface="Lato" pitchFamily="34" charset="0"/>
                <a:ea typeface="Lato" pitchFamily="34" charset="-122"/>
                <a:cs typeface="Lato" pitchFamily="34" charset="-120"/>
              </a:rPr>
              <a:t>Analyse SIP inflows &amp; trends</a:t>
            </a:r>
            <a:endParaRPr lang="en-US" sz="950" dirty="0"/>
          </a:p>
          <a:p>
            <a:pPr algn="l" marL="342900" indent="-342900">
              <a:lnSpc>
                <a:spcPct val="133000"/>
              </a:lnSpc>
              <a:buSzPct val="100000"/>
              <a:buChar char="•"/>
            </a:pPr>
            <a:r>
              <a:rPr lang="en-US" sz="950" dirty="0">
                <a:solidFill>
                  <a:srgbClr val="4A4A45"/>
                </a:solidFill>
                <a:latin typeface="Lato" pitchFamily="34" charset="0"/>
                <a:ea typeface="Lato" pitchFamily="34" charset="-122"/>
                <a:cs typeface="Lato" pitchFamily="34" charset="-120"/>
              </a:rPr>
              <a:t>Build an interactive Power BI dashboard</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96119" y="396627"/>
            <a:ext cx="4822924" cy="357336"/>
          </a:xfrm>
          <a:prstGeom prst="rect">
            <a:avLst/>
          </a:prstGeom>
          <a:noFill/>
          <a:ln/>
        </p:spPr>
        <p:txBody>
          <a:bodyPr wrap="none" lIns="0" tIns="0" rIns="0" bIns="0" rtlCol="0" anchor="t"/>
          <a:lstStyle/>
          <a:p>
            <a:pPr algn="l" indent="0" marL="0">
              <a:lnSpc>
                <a:spcPct val="104000"/>
              </a:lnSpc>
              <a:buNone/>
            </a:pPr>
            <a:r>
              <a:rPr lang="en-US" sz="2250" b="1" dirty="0">
                <a:solidFill>
                  <a:srgbClr val="282824"/>
                </a:solidFill>
                <a:latin typeface="Lato Bold" pitchFamily="34" charset="0"/>
                <a:ea typeface="Lato Bold" pitchFamily="34" charset="-122"/>
                <a:cs typeface="Lato Bold" pitchFamily="34" charset="-120"/>
              </a:rPr>
              <a:t>Data Sources — Ten Core Datasets</a:t>
            </a:r>
            <a:endParaRPr lang="en-US" sz="2250" dirty="0"/>
          </a:p>
        </p:txBody>
      </p:sp>
      <p:sp>
        <p:nvSpPr>
          <p:cNvPr id="3" name="Shape 1"/>
          <p:cNvSpPr/>
          <p:nvPr/>
        </p:nvSpPr>
        <p:spPr>
          <a:xfrm>
            <a:off x="496119" y="964778"/>
            <a:ext cx="8151763" cy="3487713"/>
          </a:xfrm>
          <a:prstGeom prst="roundRect">
            <a:avLst>
              <a:gd name="adj" fmla="val 492"/>
            </a:avLst>
          </a:prstGeom>
          <a:noFill/>
          <a:ln w="4763">
            <a:solidFill>
              <a:srgbClr val="000000">
                <a:alpha val="8000"/>
              </a:srgbClr>
            </a:solidFill>
            <a:prstDash val="solid"/>
          </a:ln>
        </p:spPr>
      </p:sp>
      <p:sp>
        <p:nvSpPr>
          <p:cNvPr id="4" name="Shape 2"/>
          <p:cNvSpPr/>
          <p:nvPr/>
        </p:nvSpPr>
        <p:spPr>
          <a:xfrm>
            <a:off x="500955" y="969541"/>
            <a:ext cx="2442642" cy="314251"/>
          </a:xfrm>
          <a:prstGeom prst="rect">
            <a:avLst/>
          </a:prstGeom>
          <a:solidFill>
            <a:srgbClr val="6237C8"/>
          </a:solidFill>
          <a:ln/>
        </p:spPr>
      </p:sp>
      <p:sp>
        <p:nvSpPr>
          <p:cNvPr id="5" name="Text 3"/>
          <p:cNvSpPr/>
          <p:nvPr/>
        </p:nvSpPr>
        <p:spPr>
          <a:xfrm>
            <a:off x="615255" y="1037555"/>
            <a:ext cx="2668860" cy="175840"/>
          </a:xfrm>
          <a:prstGeom prst="rect">
            <a:avLst/>
          </a:prstGeom>
          <a:noFill/>
          <a:ln/>
        </p:spPr>
        <p:txBody>
          <a:bodyPr wrap="none" lIns="0" tIns="0" rIns="0" bIns="0" rtlCol="0" anchor="t"/>
          <a:lstStyle/>
          <a:p>
            <a:pPr algn="l" indent="0" marL="0">
              <a:lnSpc>
                <a:spcPct val="128000"/>
              </a:lnSpc>
              <a:buNone/>
            </a:pPr>
            <a:r>
              <a:rPr lang="en-US" sz="900" b="1" dirty="0">
                <a:solidFill>
                  <a:srgbClr val="FFFFFF"/>
                </a:solidFill>
                <a:latin typeface="Lato" pitchFamily="34" charset="0"/>
                <a:ea typeface="Lato" pitchFamily="34" charset="-122"/>
                <a:cs typeface="Lato" pitchFamily="34" charset="-120"/>
              </a:rPr>
              <a:t>Dataset</a:t>
            </a:r>
            <a:endParaRPr lang="en-US" sz="900" dirty="0"/>
          </a:p>
        </p:txBody>
      </p:sp>
      <p:sp>
        <p:nvSpPr>
          <p:cNvPr id="6" name="Shape 4"/>
          <p:cNvSpPr/>
          <p:nvPr/>
        </p:nvSpPr>
        <p:spPr>
          <a:xfrm>
            <a:off x="2943597" y="969541"/>
            <a:ext cx="5699522" cy="314251"/>
          </a:xfrm>
          <a:prstGeom prst="rect">
            <a:avLst/>
          </a:prstGeom>
          <a:solidFill>
            <a:srgbClr val="6237C8"/>
          </a:solidFill>
          <a:ln/>
        </p:spPr>
      </p:sp>
      <p:sp>
        <p:nvSpPr>
          <p:cNvPr id="7" name="Text 5"/>
          <p:cNvSpPr/>
          <p:nvPr/>
        </p:nvSpPr>
        <p:spPr>
          <a:xfrm>
            <a:off x="3060278" y="1037555"/>
            <a:ext cx="5925741" cy="175840"/>
          </a:xfrm>
          <a:prstGeom prst="rect">
            <a:avLst/>
          </a:prstGeom>
          <a:noFill/>
          <a:ln/>
        </p:spPr>
        <p:txBody>
          <a:bodyPr wrap="none" lIns="0" tIns="0" rIns="0" bIns="0" rtlCol="0" anchor="t"/>
          <a:lstStyle/>
          <a:p>
            <a:pPr algn="l" indent="0" marL="0">
              <a:lnSpc>
                <a:spcPct val="128000"/>
              </a:lnSpc>
              <a:buNone/>
            </a:pPr>
            <a:r>
              <a:rPr lang="en-US" sz="900" b="1" dirty="0">
                <a:solidFill>
                  <a:srgbClr val="FFFFFF"/>
                </a:solidFill>
                <a:latin typeface="Lato" pitchFamily="34" charset="0"/>
                <a:ea typeface="Lato" pitchFamily="34" charset="-122"/>
                <a:cs typeface="Lato" pitchFamily="34" charset="-120"/>
              </a:rPr>
              <a:t>Purpose</a:t>
            </a:r>
            <a:endParaRPr lang="en-US" sz="900" dirty="0"/>
          </a:p>
        </p:txBody>
      </p:sp>
      <p:sp>
        <p:nvSpPr>
          <p:cNvPr id="8" name="Text 6"/>
          <p:cNvSpPr/>
          <p:nvPr/>
        </p:nvSpPr>
        <p:spPr>
          <a:xfrm>
            <a:off x="615255" y="1354187"/>
            <a:ext cx="2668860" cy="175840"/>
          </a:xfrm>
          <a:prstGeom prst="rect">
            <a:avLst/>
          </a:prstGeom>
          <a:noFill/>
          <a:ln/>
        </p:spPr>
        <p:txBody>
          <a:bodyPr wrap="none" lIns="0" tIns="0" rIns="0" bIns="0" rtlCol="0" anchor="t"/>
          <a:lstStyle/>
          <a:p>
            <a:pPr algn="l" indent="0" marL="0">
              <a:lnSpc>
                <a:spcPct val="128000"/>
              </a:lnSpc>
              <a:buNone/>
            </a:pPr>
            <a:r>
              <a:rPr lang="en-US" sz="900" dirty="0">
                <a:solidFill>
                  <a:srgbClr val="4A4A45"/>
                </a:solidFill>
                <a:latin typeface="Lato" pitchFamily="34" charset="0"/>
                <a:ea typeface="Lato" pitchFamily="34" charset="-122"/>
                <a:cs typeface="Lato" pitchFamily="34" charset="-120"/>
              </a:rPr>
              <a:t>Fund Master</a:t>
            </a:r>
            <a:endParaRPr lang="en-US" sz="900" dirty="0"/>
          </a:p>
        </p:txBody>
      </p:sp>
      <p:sp>
        <p:nvSpPr>
          <p:cNvPr id="9" name="Text 7"/>
          <p:cNvSpPr/>
          <p:nvPr/>
        </p:nvSpPr>
        <p:spPr>
          <a:xfrm>
            <a:off x="3060278" y="1354187"/>
            <a:ext cx="5925741" cy="175840"/>
          </a:xfrm>
          <a:prstGeom prst="rect">
            <a:avLst/>
          </a:prstGeom>
          <a:noFill/>
          <a:ln/>
        </p:spPr>
        <p:txBody>
          <a:bodyPr wrap="none" lIns="0" tIns="0" rIns="0" bIns="0" rtlCol="0" anchor="t"/>
          <a:lstStyle/>
          <a:p>
            <a:pPr algn="l" indent="0" marL="0">
              <a:lnSpc>
                <a:spcPct val="128000"/>
              </a:lnSpc>
              <a:buNone/>
            </a:pPr>
            <a:r>
              <a:rPr lang="en-US" sz="900" dirty="0">
                <a:solidFill>
                  <a:srgbClr val="4A4A45"/>
                </a:solidFill>
                <a:latin typeface="Lato" pitchFamily="34" charset="0"/>
                <a:ea typeface="Lato" pitchFamily="34" charset="-122"/>
                <a:cs typeface="Lato" pitchFamily="34" charset="-120"/>
              </a:rPr>
              <a:t>Scheme information and metadata</a:t>
            </a:r>
            <a:endParaRPr lang="en-US" sz="900" dirty="0"/>
          </a:p>
        </p:txBody>
      </p:sp>
      <p:sp>
        <p:nvSpPr>
          <p:cNvPr id="10" name="Text 8"/>
          <p:cNvSpPr/>
          <p:nvPr/>
        </p:nvSpPr>
        <p:spPr>
          <a:xfrm>
            <a:off x="615255" y="1670819"/>
            <a:ext cx="2668860" cy="175840"/>
          </a:xfrm>
          <a:prstGeom prst="rect">
            <a:avLst/>
          </a:prstGeom>
          <a:noFill/>
          <a:ln/>
        </p:spPr>
        <p:txBody>
          <a:bodyPr wrap="none" lIns="0" tIns="0" rIns="0" bIns="0" rtlCol="0" anchor="t"/>
          <a:lstStyle/>
          <a:p>
            <a:pPr algn="l" indent="0" marL="0">
              <a:lnSpc>
                <a:spcPct val="128000"/>
              </a:lnSpc>
              <a:buNone/>
            </a:pPr>
            <a:r>
              <a:rPr lang="en-US" sz="900" dirty="0">
                <a:solidFill>
                  <a:srgbClr val="4A4A45"/>
                </a:solidFill>
                <a:latin typeface="Lato" pitchFamily="34" charset="0"/>
                <a:ea typeface="Lato" pitchFamily="34" charset="-122"/>
                <a:cs typeface="Lato" pitchFamily="34" charset="-120"/>
              </a:rPr>
              <a:t>NAV History</a:t>
            </a:r>
            <a:endParaRPr lang="en-US" sz="900" dirty="0"/>
          </a:p>
        </p:txBody>
      </p:sp>
      <p:sp>
        <p:nvSpPr>
          <p:cNvPr id="11" name="Text 9"/>
          <p:cNvSpPr/>
          <p:nvPr/>
        </p:nvSpPr>
        <p:spPr>
          <a:xfrm>
            <a:off x="3060278" y="1670819"/>
            <a:ext cx="5925741" cy="175840"/>
          </a:xfrm>
          <a:prstGeom prst="rect">
            <a:avLst/>
          </a:prstGeom>
          <a:noFill/>
          <a:ln/>
        </p:spPr>
        <p:txBody>
          <a:bodyPr wrap="none" lIns="0" tIns="0" rIns="0" bIns="0" rtlCol="0" anchor="t"/>
          <a:lstStyle/>
          <a:p>
            <a:pPr algn="l" indent="0" marL="0">
              <a:lnSpc>
                <a:spcPct val="128000"/>
              </a:lnSpc>
              <a:buNone/>
            </a:pPr>
            <a:r>
              <a:rPr lang="en-US" sz="900" dirty="0">
                <a:solidFill>
                  <a:srgbClr val="4A4A45"/>
                </a:solidFill>
                <a:latin typeface="Lato" pitchFamily="34" charset="0"/>
                <a:ea typeface="Lato" pitchFamily="34" charset="-122"/>
                <a:cs typeface="Lato" pitchFamily="34" charset="-120"/>
              </a:rPr>
              <a:t>Historical NAV time series for schemes</a:t>
            </a:r>
            <a:endParaRPr lang="en-US" sz="900" dirty="0"/>
          </a:p>
        </p:txBody>
      </p:sp>
      <p:sp>
        <p:nvSpPr>
          <p:cNvPr id="12" name="Text 10"/>
          <p:cNvSpPr/>
          <p:nvPr/>
        </p:nvSpPr>
        <p:spPr>
          <a:xfrm>
            <a:off x="615255" y="1987451"/>
            <a:ext cx="2668860" cy="175840"/>
          </a:xfrm>
          <a:prstGeom prst="rect">
            <a:avLst/>
          </a:prstGeom>
          <a:noFill/>
          <a:ln/>
        </p:spPr>
        <p:txBody>
          <a:bodyPr wrap="none" lIns="0" tIns="0" rIns="0" bIns="0" rtlCol="0" anchor="t"/>
          <a:lstStyle/>
          <a:p>
            <a:pPr algn="l" indent="0" marL="0">
              <a:lnSpc>
                <a:spcPct val="128000"/>
              </a:lnSpc>
              <a:buNone/>
            </a:pPr>
            <a:r>
              <a:rPr lang="en-US" sz="900" dirty="0">
                <a:solidFill>
                  <a:srgbClr val="4A4A45"/>
                </a:solidFill>
                <a:latin typeface="Lato" pitchFamily="34" charset="0"/>
                <a:ea typeface="Lato" pitchFamily="34" charset="-122"/>
                <a:cs typeface="Lato" pitchFamily="34" charset="-120"/>
              </a:rPr>
              <a:t>AUM by Fund House</a:t>
            </a:r>
            <a:endParaRPr lang="en-US" sz="900" dirty="0"/>
          </a:p>
        </p:txBody>
      </p:sp>
      <p:sp>
        <p:nvSpPr>
          <p:cNvPr id="13" name="Text 11"/>
          <p:cNvSpPr/>
          <p:nvPr/>
        </p:nvSpPr>
        <p:spPr>
          <a:xfrm>
            <a:off x="3060278" y="1987451"/>
            <a:ext cx="5925741" cy="175840"/>
          </a:xfrm>
          <a:prstGeom prst="rect">
            <a:avLst/>
          </a:prstGeom>
          <a:noFill/>
          <a:ln/>
        </p:spPr>
        <p:txBody>
          <a:bodyPr wrap="none" lIns="0" tIns="0" rIns="0" bIns="0" rtlCol="0" anchor="t"/>
          <a:lstStyle/>
          <a:p>
            <a:pPr algn="l" indent="0" marL="0">
              <a:lnSpc>
                <a:spcPct val="128000"/>
              </a:lnSpc>
              <a:buNone/>
            </a:pPr>
            <a:r>
              <a:rPr lang="en-US" sz="900" dirty="0">
                <a:solidFill>
                  <a:srgbClr val="4A4A45"/>
                </a:solidFill>
                <a:latin typeface="Lato" pitchFamily="34" charset="0"/>
                <a:ea typeface="Lato" pitchFamily="34" charset="-122"/>
                <a:cs typeface="Lato" pitchFamily="34" charset="-120"/>
              </a:rPr>
              <a:t>Assets under management analysis and concentration</a:t>
            </a:r>
            <a:endParaRPr lang="en-US" sz="900" dirty="0"/>
          </a:p>
        </p:txBody>
      </p:sp>
      <p:sp>
        <p:nvSpPr>
          <p:cNvPr id="14" name="Text 12"/>
          <p:cNvSpPr/>
          <p:nvPr/>
        </p:nvSpPr>
        <p:spPr>
          <a:xfrm>
            <a:off x="615255" y="2304083"/>
            <a:ext cx="2668860" cy="175840"/>
          </a:xfrm>
          <a:prstGeom prst="rect">
            <a:avLst/>
          </a:prstGeom>
          <a:noFill/>
          <a:ln/>
        </p:spPr>
        <p:txBody>
          <a:bodyPr wrap="none" lIns="0" tIns="0" rIns="0" bIns="0" rtlCol="0" anchor="t"/>
          <a:lstStyle/>
          <a:p>
            <a:pPr algn="l" indent="0" marL="0">
              <a:lnSpc>
                <a:spcPct val="128000"/>
              </a:lnSpc>
              <a:buNone/>
            </a:pPr>
            <a:r>
              <a:rPr lang="en-US" sz="900" dirty="0">
                <a:solidFill>
                  <a:srgbClr val="4A4A45"/>
                </a:solidFill>
                <a:latin typeface="Lato" pitchFamily="34" charset="0"/>
                <a:ea typeface="Lato" pitchFamily="34" charset="-122"/>
                <a:cs typeface="Lato" pitchFamily="34" charset="-120"/>
              </a:rPr>
              <a:t>Monthly SIP Inflows</a:t>
            </a:r>
            <a:endParaRPr lang="en-US" sz="900" dirty="0"/>
          </a:p>
        </p:txBody>
      </p:sp>
      <p:sp>
        <p:nvSpPr>
          <p:cNvPr id="15" name="Text 13"/>
          <p:cNvSpPr/>
          <p:nvPr/>
        </p:nvSpPr>
        <p:spPr>
          <a:xfrm>
            <a:off x="3060278" y="2304083"/>
            <a:ext cx="5925741" cy="175840"/>
          </a:xfrm>
          <a:prstGeom prst="rect">
            <a:avLst/>
          </a:prstGeom>
          <a:noFill/>
          <a:ln/>
        </p:spPr>
        <p:txBody>
          <a:bodyPr wrap="none" lIns="0" tIns="0" rIns="0" bIns="0" rtlCol="0" anchor="t"/>
          <a:lstStyle/>
          <a:p>
            <a:pPr algn="l" indent="0" marL="0">
              <a:lnSpc>
                <a:spcPct val="128000"/>
              </a:lnSpc>
              <a:buNone/>
            </a:pPr>
            <a:r>
              <a:rPr lang="en-US" sz="900" dirty="0">
                <a:solidFill>
                  <a:srgbClr val="4A4A45"/>
                </a:solidFill>
                <a:latin typeface="Lato" pitchFamily="34" charset="0"/>
                <a:ea typeface="Lato" pitchFamily="34" charset="-122"/>
                <a:cs typeface="Lato" pitchFamily="34" charset="-120"/>
              </a:rPr>
              <a:t>SIP growth and resilience trends</a:t>
            </a:r>
            <a:endParaRPr lang="en-US" sz="900" dirty="0"/>
          </a:p>
        </p:txBody>
      </p:sp>
      <p:sp>
        <p:nvSpPr>
          <p:cNvPr id="16" name="Text 14"/>
          <p:cNvSpPr/>
          <p:nvPr/>
        </p:nvSpPr>
        <p:spPr>
          <a:xfrm>
            <a:off x="615255" y="2620714"/>
            <a:ext cx="2668860" cy="175840"/>
          </a:xfrm>
          <a:prstGeom prst="rect">
            <a:avLst/>
          </a:prstGeom>
          <a:noFill/>
          <a:ln/>
        </p:spPr>
        <p:txBody>
          <a:bodyPr wrap="none" lIns="0" tIns="0" rIns="0" bIns="0" rtlCol="0" anchor="t"/>
          <a:lstStyle/>
          <a:p>
            <a:pPr algn="l" indent="0" marL="0">
              <a:lnSpc>
                <a:spcPct val="128000"/>
              </a:lnSpc>
              <a:buNone/>
            </a:pPr>
            <a:r>
              <a:rPr lang="en-US" sz="900" dirty="0">
                <a:solidFill>
                  <a:srgbClr val="4A4A45"/>
                </a:solidFill>
                <a:latin typeface="Lato" pitchFamily="34" charset="0"/>
                <a:ea typeface="Lato" pitchFamily="34" charset="-122"/>
                <a:cs typeface="Lato" pitchFamily="34" charset="-120"/>
              </a:rPr>
              <a:t>Category Inflows</a:t>
            </a:r>
            <a:endParaRPr lang="en-US" sz="900" dirty="0"/>
          </a:p>
        </p:txBody>
      </p:sp>
      <p:sp>
        <p:nvSpPr>
          <p:cNvPr id="17" name="Text 15"/>
          <p:cNvSpPr/>
          <p:nvPr/>
        </p:nvSpPr>
        <p:spPr>
          <a:xfrm>
            <a:off x="3060278" y="2620714"/>
            <a:ext cx="5925741" cy="175840"/>
          </a:xfrm>
          <a:prstGeom prst="rect">
            <a:avLst/>
          </a:prstGeom>
          <a:noFill/>
          <a:ln/>
        </p:spPr>
        <p:txBody>
          <a:bodyPr wrap="none" lIns="0" tIns="0" rIns="0" bIns="0" rtlCol="0" anchor="t"/>
          <a:lstStyle/>
          <a:p>
            <a:pPr algn="l" indent="0" marL="0">
              <a:lnSpc>
                <a:spcPct val="128000"/>
              </a:lnSpc>
              <a:buNone/>
            </a:pPr>
            <a:r>
              <a:rPr lang="en-US" sz="900" dirty="0">
                <a:solidFill>
                  <a:srgbClr val="4A4A45"/>
                </a:solidFill>
                <a:latin typeface="Lato" pitchFamily="34" charset="0"/>
                <a:ea typeface="Lato" pitchFamily="34" charset="-122"/>
                <a:cs typeface="Lato" pitchFamily="34" charset="-120"/>
              </a:rPr>
              <a:t>Category-level investment patterns</a:t>
            </a:r>
            <a:endParaRPr lang="en-US" sz="900" dirty="0"/>
          </a:p>
        </p:txBody>
      </p:sp>
      <p:sp>
        <p:nvSpPr>
          <p:cNvPr id="18" name="Text 16"/>
          <p:cNvSpPr/>
          <p:nvPr/>
        </p:nvSpPr>
        <p:spPr>
          <a:xfrm>
            <a:off x="615255" y="2937346"/>
            <a:ext cx="2668860" cy="175840"/>
          </a:xfrm>
          <a:prstGeom prst="rect">
            <a:avLst/>
          </a:prstGeom>
          <a:noFill/>
          <a:ln/>
        </p:spPr>
        <p:txBody>
          <a:bodyPr wrap="none" lIns="0" tIns="0" rIns="0" bIns="0" rtlCol="0" anchor="t"/>
          <a:lstStyle/>
          <a:p>
            <a:pPr algn="l" indent="0" marL="0">
              <a:lnSpc>
                <a:spcPct val="128000"/>
              </a:lnSpc>
              <a:buNone/>
            </a:pPr>
            <a:r>
              <a:rPr lang="en-US" sz="900" dirty="0">
                <a:solidFill>
                  <a:srgbClr val="4A4A45"/>
                </a:solidFill>
                <a:latin typeface="Lato" pitchFamily="34" charset="0"/>
                <a:ea typeface="Lato" pitchFamily="34" charset="-122"/>
                <a:cs typeface="Lato" pitchFamily="34" charset="-120"/>
              </a:rPr>
              <a:t>Industry Folio Count</a:t>
            </a:r>
            <a:endParaRPr lang="en-US" sz="900" dirty="0"/>
          </a:p>
        </p:txBody>
      </p:sp>
      <p:sp>
        <p:nvSpPr>
          <p:cNvPr id="19" name="Text 17"/>
          <p:cNvSpPr/>
          <p:nvPr/>
        </p:nvSpPr>
        <p:spPr>
          <a:xfrm>
            <a:off x="3060278" y="2937346"/>
            <a:ext cx="5925741" cy="175840"/>
          </a:xfrm>
          <a:prstGeom prst="rect">
            <a:avLst/>
          </a:prstGeom>
          <a:noFill/>
          <a:ln/>
        </p:spPr>
        <p:txBody>
          <a:bodyPr wrap="none" lIns="0" tIns="0" rIns="0" bIns="0" rtlCol="0" anchor="t"/>
          <a:lstStyle/>
          <a:p>
            <a:pPr algn="l" indent="0" marL="0">
              <a:lnSpc>
                <a:spcPct val="128000"/>
              </a:lnSpc>
              <a:buNone/>
            </a:pPr>
            <a:r>
              <a:rPr lang="en-US" sz="900" dirty="0">
                <a:solidFill>
                  <a:srgbClr val="4A4A45"/>
                </a:solidFill>
                <a:latin typeface="Lato" pitchFamily="34" charset="0"/>
                <a:ea typeface="Lato" pitchFamily="34" charset="-122"/>
                <a:cs typeface="Lato" pitchFamily="34" charset="-120"/>
              </a:rPr>
              <a:t>Investor participation &amp; folio trends</a:t>
            </a:r>
            <a:endParaRPr lang="en-US" sz="900" dirty="0"/>
          </a:p>
        </p:txBody>
      </p:sp>
      <p:sp>
        <p:nvSpPr>
          <p:cNvPr id="20" name="Text 18"/>
          <p:cNvSpPr/>
          <p:nvPr/>
        </p:nvSpPr>
        <p:spPr>
          <a:xfrm>
            <a:off x="615255" y="3253978"/>
            <a:ext cx="2668860" cy="175840"/>
          </a:xfrm>
          <a:prstGeom prst="rect">
            <a:avLst/>
          </a:prstGeom>
          <a:noFill/>
          <a:ln/>
        </p:spPr>
        <p:txBody>
          <a:bodyPr wrap="none" lIns="0" tIns="0" rIns="0" bIns="0" rtlCol="0" anchor="t"/>
          <a:lstStyle/>
          <a:p>
            <a:pPr algn="l" indent="0" marL="0">
              <a:lnSpc>
                <a:spcPct val="128000"/>
              </a:lnSpc>
              <a:buNone/>
            </a:pPr>
            <a:r>
              <a:rPr lang="en-US" sz="900" dirty="0">
                <a:solidFill>
                  <a:srgbClr val="4A4A45"/>
                </a:solidFill>
                <a:latin typeface="Lato" pitchFamily="34" charset="0"/>
                <a:ea typeface="Lato" pitchFamily="34" charset="-122"/>
                <a:cs typeface="Lato" pitchFamily="34" charset="-120"/>
              </a:rPr>
              <a:t>Scheme Performance</a:t>
            </a:r>
            <a:endParaRPr lang="en-US" sz="900" dirty="0"/>
          </a:p>
        </p:txBody>
      </p:sp>
      <p:sp>
        <p:nvSpPr>
          <p:cNvPr id="21" name="Text 19"/>
          <p:cNvSpPr/>
          <p:nvPr/>
        </p:nvSpPr>
        <p:spPr>
          <a:xfrm>
            <a:off x="3060278" y="3253978"/>
            <a:ext cx="5925741" cy="175840"/>
          </a:xfrm>
          <a:prstGeom prst="rect">
            <a:avLst/>
          </a:prstGeom>
          <a:noFill/>
          <a:ln/>
        </p:spPr>
        <p:txBody>
          <a:bodyPr wrap="none" lIns="0" tIns="0" rIns="0" bIns="0" rtlCol="0" anchor="t"/>
          <a:lstStyle/>
          <a:p>
            <a:pPr algn="l" indent="0" marL="0">
              <a:lnSpc>
                <a:spcPct val="128000"/>
              </a:lnSpc>
              <a:buNone/>
            </a:pPr>
            <a:r>
              <a:rPr lang="en-US" sz="900" dirty="0">
                <a:solidFill>
                  <a:srgbClr val="4A4A45"/>
                </a:solidFill>
                <a:latin typeface="Lato" pitchFamily="34" charset="0"/>
                <a:ea typeface="Lato" pitchFamily="34" charset="-122"/>
                <a:cs typeface="Lato" pitchFamily="34" charset="-120"/>
              </a:rPr>
              <a:t>Returns, risk metrics, and scorecards</a:t>
            </a:r>
            <a:endParaRPr lang="en-US" sz="900" dirty="0"/>
          </a:p>
        </p:txBody>
      </p:sp>
      <p:sp>
        <p:nvSpPr>
          <p:cNvPr id="22" name="Text 20"/>
          <p:cNvSpPr/>
          <p:nvPr/>
        </p:nvSpPr>
        <p:spPr>
          <a:xfrm>
            <a:off x="615255" y="3570610"/>
            <a:ext cx="2668860" cy="175840"/>
          </a:xfrm>
          <a:prstGeom prst="rect">
            <a:avLst/>
          </a:prstGeom>
          <a:noFill/>
          <a:ln/>
        </p:spPr>
        <p:txBody>
          <a:bodyPr wrap="none" lIns="0" tIns="0" rIns="0" bIns="0" rtlCol="0" anchor="t"/>
          <a:lstStyle/>
          <a:p>
            <a:pPr algn="l" indent="0" marL="0">
              <a:lnSpc>
                <a:spcPct val="128000"/>
              </a:lnSpc>
              <a:buNone/>
            </a:pPr>
            <a:r>
              <a:rPr lang="en-US" sz="900" dirty="0">
                <a:solidFill>
                  <a:srgbClr val="4A4A45"/>
                </a:solidFill>
                <a:latin typeface="Lato" pitchFamily="34" charset="0"/>
                <a:ea typeface="Lato" pitchFamily="34" charset="-122"/>
                <a:cs typeface="Lato" pitchFamily="34" charset="-120"/>
              </a:rPr>
              <a:t>Investor Transactions</a:t>
            </a:r>
            <a:endParaRPr lang="en-US" sz="900" dirty="0"/>
          </a:p>
        </p:txBody>
      </p:sp>
      <p:sp>
        <p:nvSpPr>
          <p:cNvPr id="23" name="Text 21"/>
          <p:cNvSpPr/>
          <p:nvPr/>
        </p:nvSpPr>
        <p:spPr>
          <a:xfrm>
            <a:off x="3060278" y="3570610"/>
            <a:ext cx="5925741" cy="175840"/>
          </a:xfrm>
          <a:prstGeom prst="rect">
            <a:avLst/>
          </a:prstGeom>
          <a:noFill/>
          <a:ln/>
        </p:spPr>
        <p:txBody>
          <a:bodyPr wrap="none" lIns="0" tIns="0" rIns="0" bIns="0" rtlCol="0" anchor="t"/>
          <a:lstStyle/>
          <a:p>
            <a:pPr algn="l" indent="0" marL="0">
              <a:lnSpc>
                <a:spcPct val="128000"/>
              </a:lnSpc>
              <a:buNone/>
            </a:pPr>
            <a:r>
              <a:rPr lang="en-US" sz="900" dirty="0">
                <a:solidFill>
                  <a:srgbClr val="4A4A45"/>
                </a:solidFill>
                <a:latin typeface="Lato" pitchFamily="34" charset="0"/>
                <a:ea typeface="Lato" pitchFamily="34" charset="-122"/>
                <a:cs typeface="Lato" pitchFamily="34" charset="-120"/>
              </a:rPr>
              <a:t>Transaction-level analysis and geography</a:t>
            </a:r>
            <a:endParaRPr lang="en-US" sz="900" dirty="0"/>
          </a:p>
        </p:txBody>
      </p:sp>
      <p:sp>
        <p:nvSpPr>
          <p:cNvPr id="24" name="Text 22"/>
          <p:cNvSpPr/>
          <p:nvPr/>
        </p:nvSpPr>
        <p:spPr>
          <a:xfrm>
            <a:off x="615255" y="3887242"/>
            <a:ext cx="2668860" cy="175840"/>
          </a:xfrm>
          <a:prstGeom prst="rect">
            <a:avLst/>
          </a:prstGeom>
          <a:noFill/>
          <a:ln/>
        </p:spPr>
        <p:txBody>
          <a:bodyPr wrap="none" lIns="0" tIns="0" rIns="0" bIns="0" rtlCol="0" anchor="t"/>
          <a:lstStyle/>
          <a:p>
            <a:pPr algn="l" indent="0" marL="0">
              <a:lnSpc>
                <a:spcPct val="128000"/>
              </a:lnSpc>
              <a:buNone/>
            </a:pPr>
            <a:r>
              <a:rPr lang="en-US" sz="900" dirty="0">
                <a:solidFill>
                  <a:srgbClr val="4A4A45"/>
                </a:solidFill>
                <a:latin typeface="Lato" pitchFamily="34" charset="0"/>
                <a:ea typeface="Lato" pitchFamily="34" charset="-122"/>
                <a:cs typeface="Lato" pitchFamily="34" charset="-120"/>
              </a:rPr>
              <a:t>Portfolio Holdings</a:t>
            </a:r>
            <a:endParaRPr lang="en-US" sz="900" dirty="0"/>
          </a:p>
        </p:txBody>
      </p:sp>
      <p:sp>
        <p:nvSpPr>
          <p:cNvPr id="25" name="Text 23"/>
          <p:cNvSpPr/>
          <p:nvPr/>
        </p:nvSpPr>
        <p:spPr>
          <a:xfrm>
            <a:off x="3060278" y="3887242"/>
            <a:ext cx="5925741" cy="175840"/>
          </a:xfrm>
          <a:prstGeom prst="rect">
            <a:avLst/>
          </a:prstGeom>
          <a:noFill/>
          <a:ln/>
        </p:spPr>
        <p:txBody>
          <a:bodyPr wrap="none" lIns="0" tIns="0" rIns="0" bIns="0" rtlCol="0" anchor="t"/>
          <a:lstStyle/>
          <a:p>
            <a:pPr algn="l" indent="0" marL="0">
              <a:lnSpc>
                <a:spcPct val="128000"/>
              </a:lnSpc>
              <a:buNone/>
            </a:pPr>
            <a:r>
              <a:rPr lang="en-US" sz="900" dirty="0">
                <a:solidFill>
                  <a:srgbClr val="4A4A45"/>
                </a:solidFill>
                <a:latin typeface="Lato" pitchFamily="34" charset="0"/>
                <a:ea typeface="Lato" pitchFamily="34" charset="-122"/>
                <a:cs typeface="Lato" pitchFamily="34" charset="-120"/>
              </a:rPr>
              <a:t>Portfolio composition and exposure</a:t>
            </a:r>
            <a:endParaRPr lang="en-US" sz="900" dirty="0"/>
          </a:p>
        </p:txBody>
      </p:sp>
      <p:sp>
        <p:nvSpPr>
          <p:cNvPr id="26" name="Text 24"/>
          <p:cNvSpPr/>
          <p:nvPr/>
        </p:nvSpPr>
        <p:spPr>
          <a:xfrm>
            <a:off x="615255" y="4203874"/>
            <a:ext cx="2668860" cy="175840"/>
          </a:xfrm>
          <a:prstGeom prst="rect">
            <a:avLst/>
          </a:prstGeom>
          <a:noFill/>
          <a:ln/>
        </p:spPr>
        <p:txBody>
          <a:bodyPr wrap="none" lIns="0" tIns="0" rIns="0" bIns="0" rtlCol="0" anchor="t"/>
          <a:lstStyle/>
          <a:p>
            <a:pPr algn="l" indent="0" marL="0">
              <a:lnSpc>
                <a:spcPct val="128000"/>
              </a:lnSpc>
              <a:buNone/>
            </a:pPr>
            <a:r>
              <a:rPr lang="en-US" sz="900" dirty="0">
                <a:solidFill>
                  <a:srgbClr val="4A4A45"/>
                </a:solidFill>
                <a:latin typeface="Lato" pitchFamily="34" charset="0"/>
                <a:ea typeface="Lato" pitchFamily="34" charset="-122"/>
                <a:cs typeface="Lato" pitchFamily="34" charset="-120"/>
              </a:rPr>
              <a:t>Benchmark Indices</a:t>
            </a:r>
            <a:endParaRPr lang="en-US" sz="900" dirty="0"/>
          </a:p>
        </p:txBody>
      </p:sp>
      <p:sp>
        <p:nvSpPr>
          <p:cNvPr id="27" name="Text 25"/>
          <p:cNvSpPr/>
          <p:nvPr/>
        </p:nvSpPr>
        <p:spPr>
          <a:xfrm>
            <a:off x="3060278" y="4203874"/>
            <a:ext cx="5925741" cy="175840"/>
          </a:xfrm>
          <a:prstGeom prst="rect">
            <a:avLst/>
          </a:prstGeom>
          <a:noFill/>
          <a:ln/>
        </p:spPr>
        <p:txBody>
          <a:bodyPr wrap="none" lIns="0" tIns="0" rIns="0" bIns="0" rtlCol="0" anchor="t"/>
          <a:lstStyle/>
          <a:p>
            <a:pPr algn="l" indent="0" marL="0">
              <a:lnSpc>
                <a:spcPct val="128000"/>
              </a:lnSpc>
              <a:buNone/>
            </a:pPr>
            <a:r>
              <a:rPr lang="en-US" sz="900" dirty="0">
                <a:solidFill>
                  <a:srgbClr val="4A4A45"/>
                </a:solidFill>
                <a:latin typeface="Lato" pitchFamily="34" charset="0"/>
                <a:ea typeface="Lato" pitchFamily="34" charset="-122"/>
                <a:cs typeface="Lato" pitchFamily="34" charset="-120"/>
              </a:rPr>
              <a:t>Market comparison and benchmark analysis</a:t>
            </a:r>
            <a:endParaRPr lang="en-US" sz="900" dirty="0"/>
          </a:p>
        </p:txBody>
      </p:sp>
      <p:sp>
        <p:nvSpPr>
          <p:cNvPr id="28" name="Text 26"/>
          <p:cNvSpPr/>
          <p:nvPr/>
        </p:nvSpPr>
        <p:spPr>
          <a:xfrm>
            <a:off x="496119" y="4571033"/>
            <a:ext cx="8608963" cy="175840"/>
          </a:xfrm>
          <a:prstGeom prst="rect">
            <a:avLst/>
          </a:prstGeom>
          <a:noFill/>
          <a:ln/>
        </p:spPr>
        <p:txBody>
          <a:bodyPr wrap="none" lIns="0" tIns="0" rIns="0" bIns="0" rtlCol="0" anchor="t"/>
          <a:lstStyle/>
          <a:p>
            <a:pPr algn="l" indent="0" marL="0">
              <a:lnSpc>
                <a:spcPct val="128000"/>
              </a:lnSpc>
              <a:buNone/>
            </a:pPr>
            <a:r>
              <a:rPr lang="en-US" sz="900" dirty="0">
                <a:solidFill>
                  <a:srgbClr val="4A4A45"/>
                </a:solidFill>
                <a:latin typeface="Lato" pitchFamily="34" charset="0"/>
                <a:ea typeface="Lato" pitchFamily="34" charset="-122"/>
                <a:cs typeface="Lato" pitchFamily="34" charset="-120"/>
              </a:rPr>
              <a:t> Each dataset was profiled and validated before ingestion; these sources enabled cross-sectional and time-series analysis supporting the dashboard and SQL queries.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715000" y="0"/>
            <a:ext cx="3429000" cy="5143500"/>
          </a:xfrm>
          <a:prstGeom prst="rect">
            <a:avLst/>
          </a:prstGeom>
        </p:spPr>
      </p:pic>
      <p:sp>
        <p:nvSpPr>
          <p:cNvPr id="3" name="Text 0"/>
          <p:cNvSpPr/>
          <p:nvPr/>
        </p:nvSpPr>
        <p:spPr>
          <a:xfrm>
            <a:off x="496119" y="352053"/>
            <a:ext cx="4498181" cy="381521"/>
          </a:xfrm>
          <a:prstGeom prst="rect">
            <a:avLst/>
          </a:prstGeom>
          <a:noFill/>
          <a:ln/>
        </p:spPr>
        <p:txBody>
          <a:bodyPr wrap="none" lIns="0" tIns="0" rIns="0" bIns="0" rtlCol="0" anchor="t"/>
          <a:lstStyle/>
          <a:p>
            <a:pPr algn="l" indent="0" marL="0">
              <a:lnSpc>
                <a:spcPct val="104000"/>
              </a:lnSpc>
              <a:buNone/>
            </a:pPr>
            <a:r>
              <a:rPr lang="en-US" sz="2400" b="1" dirty="0">
                <a:solidFill>
                  <a:srgbClr val="282824"/>
                </a:solidFill>
                <a:latin typeface="Lato Bold" pitchFamily="34" charset="0"/>
                <a:ea typeface="Lato Bold" pitchFamily="34" charset="-122"/>
                <a:cs typeface="Lato Bold" pitchFamily="34" charset="-120"/>
              </a:rPr>
              <a:t>ETL &amp; Data Quality Workflow</a:t>
            </a:r>
            <a:endParaRPr lang="en-US" sz="2400" dirty="0"/>
          </a:p>
        </p:txBody>
      </p:sp>
      <p:sp>
        <p:nvSpPr>
          <p:cNvPr id="4" name="Text 1"/>
          <p:cNvSpPr/>
          <p:nvPr/>
        </p:nvSpPr>
        <p:spPr>
          <a:xfrm>
            <a:off x="496119" y="913805"/>
            <a:ext cx="244153" cy="152623"/>
          </a:xfrm>
          <a:prstGeom prst="rect">
            <a:avLst/>
          </a:prstGeom>
          <a:noFill/>
          <a:ln/>
        </p:spPr>
        <p:txBody>
          <a:bodyPr wrap="none" lIns="0" tIns="0" rIns="0" bIns="0" rtlCol="0" anchor="ctr"/>
          <a:lstStyle/>
          <a:p>
            <a:pPr algn="l" indent="0" marL="0">
              <a:lnSpc>
                <a:spcPct val="100000"/>
              </a:lnSpc>
              <a:buNone/>
            </a:pPr>
            <a:r>
              <a:rPr lang="en-US" sz="950" dirty="0">
                <a:solidFill>
                  <a:srgbClr val="4A4A45"/>
                </a:solidFill>
                <a:latin typeface="Lato Light" pitchFamily="34" charset="0"/>
                <a:ea typeface="Lato Light" pitchFamily="34" charset="-122"/>
                <a:cs typeface="Lato Light" pitchFamily="34" charset="-120"/>
              </a:rPr>
              <a:t>01</a:t>
            </a:r>
            <a:endParaRPr lang="en-US" sz="950" dirty="0"/>
          </a:p>
        </p:txBody>
      </p:sp>
      <p:sp>
        <p:nvSpPr>
          <p:cNvPr id="5" name="Shape 2"/>
          <p:cNvSpPr/>
          <p:nvPr/>
        </p:nvSpPr>
        <p:spPr>
          <a:xfrm>
            <a:off x="496119" y="1107058"/>
            <a:ext cx="2301255" cy="14288"/>
          </a:xfrm>
          <a:prstGeom prst="rect">
            <a:avLst/>
          </a:prstGeom>
          <a:solidFill>
            <a:srgbClr val="282824"/>
          </a:solidFill>
          <a:ln/>
        </p:spPr>
      </p:sp>
      <p:sp>
        <p:nvSpPr>
          <p:cNvPr id="6" name="Text 3"/>
          <p:cNvSpPr/>
          <p:nvPr/>
        </p:nvSpPr>
        <p:spPr>
          <a:xfrm>
            <a:off x="496119" y="1196653"/>
            <a:ext cx="1668066" cy="190723"/>
          </a:xfrm>
          <a:prstGeom prst="rect">
            <a:avLst/>
          </a:prstGeom>
          <a:noFill/>
          <a:ln/>
        </p:spPr>
        <p:txBody>
          <a:bodyPr wrap="none" lIns="0" tIns="0" rIns="0" bIns="0" rtlCol="0" anchor="t"/>
          <a:lstStyle/>
          <a:p>
            <a:pPr algn="l" indent="0" marL="0">
              <a:lnSpc>
                <a:spcPct val="104000"/>
              </a:lnSpc>
              <a:buNone/>
            </a:pPr>
            <a:r>
              <a:rPr lang="en-US" sz="1200" b="1" dirty="0">
                <a:solidFill>
                  <a:srgbClr val="4A4A45"/>
                </a:solidFill>
                <a:latin typeface="Lato Bold" pitchFamily="34" charset="0"/>
                <a:ea typeface="Lato Bold" pitchFamily="34" charset="-122"/>
                <a:cs typeface="Lato Bold" pitchFamily="34" charset="-120"/>
              </a:rPr>
              <a:t>Extract (Python/Pandas)</a:t>
            </a:r>
            <a:endParaRPr lang="en-US" sz="1200" dirty="0"/>
          </a:p>
        </p:txBody>
      </p:sp>
      <p:sp>
        <p:nvSpPr>
          <p:cNvPr id="7" name="Text 4"/>
          <p:cNvSpPr/>
          <p:nvPr/>
        </p:nvSpPr>
        <p:spPr>
          <a:xfrm>
            <a:off x="496119" y="1459483"/>
            <a:ext cx="2301255" cy="581546"/>
          </a:xfrm>
          <a:prstGeom prst="rect">
            <a:avLst/>
          </a:prstGeom>
          <a:noFill/>
          <a:ln/>
        </p:spPr>
        <p:txBody>
          <a:bodyPr wrap="square" lIns="0" tIns="0" rIns="0" bIns="0" rtlCol="0" anchor="t">
            <a:normAutofit/>
          </a:bodyPr>
          <a:lstStyle/>
          <a:p>
            <a:pPr algn="l" indent="0" marL="0">
              <a:lnSpc>
                <a:spcPct val="132000"/>
              </a:lnSpc>
              <a:buNone/>
            </a:pPr>
            <a:r>
              <a:rPr lang="en-US" sz="950" dirty="0">
                <a:solidFill>
                  <a:srgbClr val="4A4A45"/>
                </a:solidFill>
                <a:latin typeface="Lato" pitchFamily="34" charset="0"/>
                <a:ea typeface="Lato" pitchFamily="34" charset="-122"/>
                <a:cs typeface="Lato" pitchFamily="34" charset="-120"/>
              </a:rPr>
              <a:t>Load raw datasets, validate schemas, and perform initial profiling to capture completeness and structural issues.</a:t>
            </a:r>
            <a:endParaRPr lang="en-US" sz="950" dirty="0"/>
          </a:p>
        </p:txBody>
      </p:sp>
      <p:sp>
        <p:nvSpPr>
          <p:cNvPr id="8" name="Text 5"/>
          <p:cNvSpPr/>
          <p:nvPr/>
        </p:nvSpPr>
        <p:spPr>
          <a:xfrm>
            <a:off x="2917552" y="913805"/>
            <a:ext cx="244153" cy="152623"/>
          </a:xfrm>
          <a:prstGeom prst="rect">
            <a:avLst/>
          </a:prstGeom>
          <a:noFill/>
          <a:ln/>
        </p:spPr>
        <p:txBody>
          <a:bodyPr wrap="none" lIns="0" tIns="0" rIns="0" bIns="0" rtlCol="0" anchor="ctr"/>
          <a:lstStyle/>
          <a:p>
            <a:pPr algn="l" indent="0" marL="0">
              <a:lnSpc>
                <a:spcPct val="100000"/>
              </a:lnSpc>
              <a:buNone/>
            </a:pPr>
            <a:r>
              <a:rPr lang="en-US" sz="950" dirty="0">
                <a:solidFill>
                  <a:srgbClr val="4A4A45"/>
                </a:solidFill>
                <a:latin typeface="Lato Light" pitchFamily="34" charset="0"/>
                <a:ea typeface="Lato Light" pitchFamily="34" charset="-122"/>
                <a:cs typeface="Lato Light" pitchFamily="34" charset="-120"/>
              </a:rPr>
              <a:t>02</a:t>
            </a:r>
            <a:endParaRPr lang="en-US" sz="950" dirty="0"/>
          </a:p>
        </p:txBody>
      </p:sp>
      <p:sp>
        <p:nvSpPr>
          <p:cNvPr id="9" name="Shape 6"/>
          <p:cNvSpPr/>
          <p:nvPr/>
        </p:nvSpPr>
        <p:spPr>
          <a:xfrm>
            <a:off x="2917552" y="1107058"/>
            <a:ext cx="2301329" cy="14288"/>
          </a:xfrm>
          <a:prstGeom prst="rect">
            <a:avLst/>
          </a:prstGeom>
          <a:solidFill>
            <a:srgbClr val="282824"/>
          </a:solidFill>
          <a:ln/>
        </p:spPr>
      </p:sp>
      <p:sp>
        <p:nvSpPr>
          <p:cNvPr id="10" name="Text 7"/>
          <p:cNvSpPr/>
          <p:nvPr/>
        </p:nvSpPr>
        <p:spPr>
          <a:xfrm>
            <a:off x="2917552" y="1196653"/>
            <a:ext cx="2301329" cy="381446"/>
          </a:xfrm>
          <a:prstGeom prst="rect">
            <a:avLst/>
          </a:prstGeom>
          <a:noFill/>
          <a:ln/>
        </p:spPr>
        <p:txBody>
          <a:bodyPr wrap="square" lIns="0" tIns="0" rIns="0" bIns="0" rtlCol="0" anchor="t">
            <a:normAutofit/>
          </a:bodyPr>
          <a:lstStyle/>
          <a:p>
            <a:pPr algn="l" indent="0" marL="0">
              <a:lnSpc>
                <a:spcPct val="104000"/>
              </a:lnSpc>
              <a:buNone/>
            </a:pPr>
            <a:r>
              <a:rPr lang="en-US" sz="1200" b="1" dirty="0">
                <a:solidFill>
                  <a:srgbClr val="4A4A45"/>
                </a:solidFill>
                <a:latin typeface="Lato Bold" pitchFamily="34" charset="0"/>
                <a:ea typeface="Lato Bold" pitchFamily="34" charset="-122"/>
                <a:cs typeface="Lato Bold" pitchFamily="34" charset="-120"/>
              </a:rPr>
              <a:t>Transform (Cleaning &amp; Standardization)</a:t>
            </a:r>
            <a:endParaRPr lang="en-US" sz="1200" dirty="0"/>
          </a:p>
        </p:txBody>
      </p:sp>
      <p:sp>
        <p:nvSpPr>
          <p:cNvPr id="11" name="Text 8"/>
          <p:cNvSpPr/>
          <p:nvPr/>
        </p:nvSpPr>
        <p:spPr>
          <a:xfrm>
            <a:off x="2917552" y="1650206"/>
            <a:ext cx="2301329" cy="969243"/>
          </a:xfrm>
          <a:prstGeom prst="rect">
            <a:avLst/>
          </a:prstGeom>
          <a:noFill/>
          <a:ln/>
        </p:spPr>
        <p:txBody>
          <a:bodyPr wrap="square" lIns="0" tIns="0" rIns="0" bIns="0" rtlCol="0" anchor="t">
            <a:normAutofit/>
          </a:bodyPr>
          <a:lstStyle/>
          <a:p>
            <a:pPr algn="l" indent="0" marL="0">
              <a:lnSpc>
                <a:spcPct val="132000"/>
              </a:lnSpc>
              <a:buNone/>
            </a:pPr>
            <a:r>
              <a:rPr lang="en-US" sz="950" dirty="0">
                <a:solidFill>
                  <a:srgbClr val="4A4A45"/>
                </a:solidFill>
                <a:latin typeface="Lato" pitchFamily="34" charset="0"/>
                <a:ea typeface="Lato" pitchFamily="34" charset="-122"/>
                <a:cs typeface="Lato" pitchFamily="34" charset="-120"/>
              </a:rPr>
              <a:t>Missing value analysis, duplicate removal, date standardization, data type corrections, outlier detection, and consistency checks were applied to ensure analytic readiness.</a:t>
            </a:r>
            <a:endParaRPr lang="en-US" sz="950" dirty="0"/>
          </a:p>
        </p:txBody>
      </p:sp>
      <p:sp>
        <p:nvSpPr>
          <p:cNvPr id="12" name="Text 9"/>
          <p:cNvSpPr/>
          <p:nvPr/>
        </p:nvSpPr>
        <p:spPr>
          <a:xfrm>
            <a:off x="496119" y="2831157"/>
            <a:ext cx="244153" cy="152623"/>
          </a:xfrm>
          <a:prstGeom prst="rect">
            <a:avLst/>
          </a:prstGeom>
          <a:noFill/>
          <a:ln/>
        </p:spPr>
        <p:txBody>
          <a:bodyPr wrap="none" lIns="0" tIns="0" rIns="0" bIns="0" rtlCol="0" anchor="ctr"/>
          <a:lstStyle/>
          <a:p>
            <a:pPr algn="l" indent="0" marL="0">
              <a:lnSpc>
                <a:spcPct val="100000"/>
              </a:lnSpc>
              <a:buNone/>
            </a:pPr>
            <a:r>
              <a:rPr lang="en-US" sz="950" dirty="0">
                <a:solidFill>
                  <a:srgbClr val="4A4A45"/>
                </a:solidFill>
                <a:latin typeface="Lato Light" pitchFamily="34" charset="0"/>
                <a:ea typeface="Lato Light" pitchFamily="34" charset="-122"/>
                <a:cs typeface="Lato Light" pitchFamily="34" charset="-120"/>
              </a:rPr>
              <a:t>03</a:t>
            </a:r>
            <a:endParaRPr lang="en-US" sz="950" dirty="0"/>
          </a:p>
        </p:txBody>
      </p:sp>
      <p:sp>
        <p:nvSpPr>
          <p:cNvPr id="13" name="Shape 10"/>
          <p:cNvSpPr/>
          <p:nvPr/>
        </p:nvSpPr>
        <p:spPr>
          <a:xfrm>
            <a:off x="496119" y="3024411"/>
            <a:ext cx="4722763" cy="14288"/>
          </a:xfrm>
          <a:prstGeom prst="rect">
            <a:avLst/>
          </a:prstGeom>
          <a:solidFill>
            <a:srgbClr val="282824"/>
          </a:solidFill>
          <a:ln/>
        </p:spPr>
      </p:sp>
      <p:sp>
        <p:nvSpPr>
          <p:cNvPr id="14" name="Text 11"/>
          <p:cNvSpPr/>
          <p:nvPr/>
        </p:nvSpPr>
        <p:spPr>
          <a:xfrm>
            <a:off x="496119" y="3114005"/>
            <a:ext cx="1526307" cy="190723"/>
          </a:xfrm>
          <a:prstGeom prst="rect">
            <a:avLst/>
          </a:prstGeom>
          <a:noFill/>
          <a:ln/>
        </p:spPr>
        <p:txBody>
          <a:bodyPr wrap="none" lIns="0" tIns="0" rIns="0" bIns="0" rtlCol="0" anchor="t"/>
          <a:lstStyle/>
          <a:p>
            <a:pPr algn="l" indent="0" marL="0">
              <a:lnSpc>
                <a:spcPct val="104000"/>
              </a:lnSpc>
              <a:buNone/>
            </a:pPr>
            <a:r>
              <a:rPr lang="en-US" sz="1200" b="1" dirty="0">
                <a:solidFill>
                  <a:srgbClr val="4A4A45"/>
                </a:solidFill>
                <a:latin typeface="Lato Bold" pitchFamily="34" charset="0"/>
                <a:ea typeface="Lato Bold" pitchFamily="34" charset="-122"/>
                <a:cs typeface="Lato Bold" pitchFamily="34" charset="-120"/>
              </a:rPr>
              <a:t>Load (SQLite)</a:t>
            </a:r>
            <a:endParaRPr lang="en-US" sz="1200" dirty="0"/>
          </a:p>
        </p:txBody>
      </p:sp>
      <p:sp>
        <p:nvSpPr>
          <p:cNvPr id="15" name="Text 12"/>
          <p:cNvSpPr/>
          <p:nvPr/>
        </p:nvSpPr>
        <p:spPr>
          <a:xfrm>
            <a:off x="496119" y="3376836"/>
            <a:ext cx="4722763" cy="387697"/>
          </a:xfrm>
          <a:prstGeom prst="rect">
            <a:avLst/>
          </a:prstGeom>
          <a:noFill/>
          <a:ln/>
        </p:spPr>
        <p:txBody>
          <a:bodyPr wrap="square" lIns="0" tIns="0" rIns="0" bIns="0" rtlCol="0" anchor="t">
            <a:normAutofit/>
          </a:bodyPr>
          <a:lstStyle/>
          <a:p>
            <a:pPr algn="l" indent="0" marL="0">
              <a:lnSpc>
                <a:spcPct val="132000"/>
              </a:lnSpc>
              <a:buNone/>
            </a:pPr>
            <a:r>
              <a:rPr lang="en-US" sz="950" dirty="0">
                <a:solidFill>
                  <a:srgbClr val="4A4A45"/>
                </a:solidFill>
                <a:latin typeface="Lato" pitchFamily="34" charset="0"/>
                <a:ea typeface="Lato" pitchFamily="34" charset="-122"/>
                <a:cs typeface="Lato" pitchFamily="34" charset="-120"/>
              </a:rPr>
              <a:t>Exported cleaned CSVs and loaded tables into a SQLite analytical database for structured SQL analysis and to power the Power BI dashboard.</a:t>
            </a:r>
            <a:endParaRPr lang="en-US" sz="950" dirty="0"/>
          </a:p>
        </p:txBody>
      </p:sp>
      <p:sp>
        <p:nvSpPr>
          <p:cNvPr id="16" name="Shape 13"/>
          <p:cNvSpPr/>
          <p:nvPr/>
        </p:nvSpPr>
        <p:spPr>
          <a:xfrm>
            <a:off x="496119" y="3991273"/>
            <a:ext cx="4722763" cy="664964"/>
          </a:xfrm>
          <a:prstGeom prst="roundRect">
            <a:avLst>
              <a:gd name="adj" fmla="val 2754"/>
            </a:avLst>
          </a:prstGeom>
          <a:solidFill>
            <a:srgbClr val="DBDBD7"/>
          </a:solidFill>
          <a:ln/>
        </p:spPr>
      </p:sp>
      <p:pic>
        <p:nvPicPr>
          <p:cNvPr id="17" name="Image 1" descr="preencoded.png">    </p:cNvPr>
          <p:cNvPicPr>
            <a:picLocks noChangeAspect="1"/>
          </p:cNvPicPr>
          <p:nvPr/>
        </p:nvPicPr>
        <p:blipFill>
          <a:blip r:embed="rId2"/>
          <a:stretch>
            <a:fillRect/>
          </a:stretch>
        </p:blipFill>
        <p:spPr>
          <a:xfrm>
            <a:off x="618158" y="4165625"/>
            <a:ext cx="152623" cy="122039"/>
          </a:xfrm>
          <a:prstGeom prst="rect">
            <a:avLst/>
          </a:prstGeom>
        </p:spPr>
      </p:pic>
      <p:sp>
        <p:nvSpPr>
          <p:cNvPr id="18" name="Text 14"/>
          <p:cNvSpPr/>
          <p:nvPr/>
        </p:nvSpPr>
        <p:spPr>
          <a:xfrm>
            <a:off x="892820" y="4129906"/>
            <a:ext cx="4204022" cy="387697"/>
          </a:xfrm>
          <a:prstGeom prst="rect">
            <a:avLst/>
          </a:prstGeom>
          <a:noFill/>
          <a:ln/>
        </p:spPr>
        <p:txBody>
          <a:bodyPr wrap="square" lIns="0" tIns="0" rIns="0" bIns="0" rtlCol="0" anchor="t">
            <a:normAutofit/>
          </a:bodyPr>
          <a:lstStyle/>
          <a:p>
            <a:pPr algn="l" indent="0" marL="0">
              <a:lnSpc>
                <a:spcPct val="132000"/>
              </a:lnSpc>
              <a:buNone/>
            </a:pPr>
            <a:r>
              <a:rPr lang="en-US" sz="950" dirty="0">
                <a:solidFill>
                  <a:srgbClr val="000000"/>
                </a:solidFill>
                <a:latin typeface="Lato" pitchFamily="34" charset="0"/>
                <a:ea typeface="Lato" pitchFamily="34" charset="-122"/>
                <a:cs typeface="Lato" pitchFamily="34" charset="-120"/>
              </a:rPr>
              <a:t> Key validations: Missing Value Analysis, Duplicate Detection, Data Type Validation, Date Standardization, Outlier Detection, Column Consistency.</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429000" cy="5143500"/>
          </a:xfrm>
          <a:prstGeom prst="rect">
            <a:avLst/>
          </a:prstGeom>
        </p:spPr>
      </p:pic>
      <p:sp>
        <p:nvSpPr>
          <p:cNvPr id="3" name="Text 0"/>
          <p:cNvSpPr/>
          <p:nvPr/>
        </p:nvSpPr>
        <p:spPr>
          <a:xfrm>
            <a:off x="3925119" y="341412"/>
            <a:ext cx="3777928" cy="363364"/>
          </a:xfrm>
          <a:prstGeom prst="rect">
            <a:avLst/>
          </a:prstGeom>
          <a:noFill/>
          <a:ln/>
        </p:spPr>
        <p:txBody>
          <a:bodyPr wrap="none" lIns="0" tIns="0" rIns="0" bIns="0" rtlCol="0" anchor="t"/>
          <a:lstStyle/>
          <a:p>
            <a:pPr algn="l" indent="0" marL="0">
              <a:lnSpc>
                <a:spcPct val="104000"/>
              </a:lnSpc>
              <a:buNone/>
            </a:pPr>
            <a:r>
              <a:rPr lang="en-US" sz="2250" b="1" dirty="0">
                <a:solidFill>
                  <a:srgbClr val="282824"/>
                </a:solidFill>
                <a:latin typeface="Lato Bold" pitchFamily="34" charset="0"/>
                <a:ea typeface="Lato Bold" pitchFamily="34" charset="-122"/>
                <a:cs typeface="Lato Bold" pitchFamily="34" charset="-120"/>
              </a:rPr>
              <a:t>Database Design &amp; Tables</a:t>
            </a:r>
            <a:endParaRPr lang="en-US" sz="2250" dirty="0"/>
          </a:p>
        </p:txBody>
      </p:sp>
      <p:sp>
        <p:nvSpPr>
          <p:cNvPr id="4" name="Text 1"/>
          <p:cNvSpPr/>
          <p:nvPr/>
        </p:nvSpPr>
        <p:spPr>
          <a:xfrm>
            <a:off x="3925119" y="868263"/>
            <a:ext cx="5179963" cy="180231"/>
          </a:xfrm>
          <a:prstGeom prst="rect">
            <a:avLst/>
          </a:prstGeom>
          <a:noFill/>
          <a:ln/>
        </p:spPr>
        <p:txBody>
          <a:bodyPr wrap="none" lIns="0" tIns="0" rIns="0" bIns="0" rtlCol="0" anchor="t"/>
          <a:lstStyle/>
          <a:p>
            <a:pPr algn="l" indent="0" marL="0">
              <a:lnSpc>
                <a:spcPct val="129000"/>
              </a:lnSpc>
              <a:buNone/>
            </a:pPr>
            <a:r>
              <a:rPr lang="en-US" sz="900" dirty="0">
                <a:solidFill>
                  <a:srgbClr val="4A4A45"/>
                </a:solidFill>
                <a:latin typeface="Lato" pitchFamily="34" charset="0"/>
                <a:ea typeface="Lato" pitchFamily="34" charset="-122"/>
                <a:cs typeface="Lato" pitchFamily="34" charset="-120"/>
              </a:rPr>
              <a:t>     SQLite was chosen for its simplicity and portability. Main analytical tables created include:   </a:t>
            </a:r>
            <a:endParaRPr lang="en-US" sz="900" dirty="0"/>
          </a:p>
        </p:txBody>
      </p:sp>
      <p:sp>
        <p:nvSpPr>
          <p:cNvPr id="5" name="Shape 2"/>
          <p:cNvSpPr/>
          <p:nvPr/>
        </p:nvSpPr>
        <p:spPr>
          <a:xfrm>
            <a:off x="3925119" y="1171129"/>
            <a:ext cx="4722763" cy="2653308"/>
          </a:xfrm>
          <a:prstGeom prst="roundRect">
            <a:avLst>
              <a:gd name="adj" fmla="val 657"/>
            </a:avLst>
          </a:prstGeom>
          <a:solidFill>
            <a:srgbClr val="EFECE6"/>
          </a:solidFill>
          <a:ln w="14288">
            <a:solidFill>
              <a:srgbClr val="CBC5B8"/>
            </a:solidFill>
            <a:prstDash val="solid"/>
          </a:ln>
        </p:spPr>
      </p:sp>
      <p:sp>
        <p:nvSpPr>
          <p:cNvPr id="6" name="Text 3"/>
          <p:cNvSpPr/>
          <p:nvPr/>
        </p:nvSpPr>
        <p:spPr>
          <a:xfrm>
            <a:off x="4055641" y="1301651"/>
            <a:ext cx="1453604" cy="181645"/>
          </a:xfrm>
          <a:prstGeom prst="rect">
            <a:avLst/>
          </a:prstGeom>
          <a:noFill/>
          <a:ln/>
        </p:spPr>
        <p:txBody>
          <a:bodyPr wrap="none" lIns="0" tIns="0" rIns="0" bIns="0" rtlCol="0" anchor="t"/>
          <a:lstStyle/>
          <a:p>
            <a:pPr algn="l" indent="0" marL="0">
              <a:lnSpc>
                <a:spcPct val="104000"/>
              </a:lnSpc>
              <a:buNone/>
            </a:pPr>
            <a:r>
              <a:rPr lang="en-US" sz="1100" b="1" dirty="0">
                <a:solidFill>
                  <a:srgbClr val="4A4A45"/>
                </a:solidFill>
                <a:latin typeface="Lato Bold" pitchFamily="34" charset="0"/>
                <a:ea typeface="Lato Bold" pitchFamily="34" charset="-122"/>
                <a:cs typeface="Lato Bold" pitchFamily="34" charset="-120"/>
              </a:rPr>
              <a:t>Core Tables</a:t>
            </a:r>
            <a:endParaRPr lang="en-US" sz="1100" dirty="0"/>
          </a:p>
        </p:txBody>
      </p:sp>
      <p:sp>
        <p:nvSpPr>
          <p:cNvPr id="7" name="Text 4"/>
          <p:cNvSpPr/>
          <p:nvPr/>
        </p:nvSpPr>
        <p:spPr>
          <a:xfrm>
            <a:off x="4055641" y="1548705"/>
            <a:ext cx="4461718" cy="2145209"/>
          </a:xfrm>
          <a:prstGeom prst="rect">
            <a:avLst/>
          </a:prstGeom>
          <a:noFill/>
          <a:ln/>
        </p:spPr>
        <p:txBody>
          <a:bodyPr wrap="square" lIns="0" tIns="0" rIns="0" bIns="0" rtlCol="0" anchor="t">
            <a:normAutofit/>
          </a:bodyPr>
          <a:lstStyle/>
          <a:p>
            <a:pPr algn="l" marL="342900" indent="-342900">
              <a:lnSpc>
                <a:spcPct val="129000"/>
              </a:lnSpc>
              <a:buSzPct val="100000"/>
              <a:buChar char="•"/>
            </a:pPr>
            <a:r>
              <a:rPr lang="en-US" sz="900" dirty="0">
                <a:solidFill>
                  <a:srgbClr val="4A4A45"/>
                </a:solidFill>
                <a:latin typeface="Lato" pitchFamily="34" charset="0"/>
                <a:ea typeface="Lato" pitchFamily="34" charset="-122"/>
                <a:cs typeface="Lato" pitchFamily="34" charset="-120"/>
              </a:rPr>
              <a:t>fund_master</a:t>
            </a:r>
            <a:endParaRPr lang="en-US" sz="900" dirty="0"/>
          </a:p>
          <a:p>
            <a:pPr algn="l" marL="342900" indent="-342900">
              <a:lnSpc>
                <a:spcPct val="129000"/>
              </a:lnSpc>
              <a:buSzPct val="100000"/>
              <a:buChar char="•"/>
            </a:pPr>
            <a:r>
              <a:rPr lang="en-US" sz="900" dirty="0">
                <a:solidFill>
                  <a:srgbClr val="4A4A45"/>
                </a:solidFill>
                <a:latin typeface="Lato" pitchFamily="34" charset="0"/>
                <a:ea typeface="Lato" pitchFamily="34" charset="-122"/>
                <a:cs typeface="Lato" pitchFamily="34" charset="-120"/>
              </a:rPr>
              <a:t>nav_history</a:t>
            </a:r>
            <a:endParaRPr lang="en-US" sz="900" dirty="0"/>
          </a:p>
          <a:p>
            <a:pPr algn="l" marL="342900" indent="-342900">
              <a:lnSpc>
                <a:spcPct val="129000"/>
              </a:lnSpc>
              <a:buSzPct val="100000"/>
              <a:buChar char="•"/>
            </a:pPr>
            <a:r>
              <a:rPr lang="en-US" sz="900" dirty="0">
                <a:solidFill>
                  <a:srgbClr val="4A4A45"/>
                </a:solidFill>
                <a:latin typeface="Lato" pitchFamily="34" charset="0"/>
                <a:ea typeface="Lato" pitchFamily="34" charset="-122"/>
                <a:cs typeface="Lato" pitchFamily="34" charset="-120"/>
              </a:rPr>
              <a:t>aum_by_fund_house</a:t>
            </a:r>
            <a:endParaRPr lang="en-US" sz="900" dirty="0"/>
          </a:p>
          <a:p>
            <a:pPr algn="l" marL="342900" indent="-342900">
              <a:lnSpc>
                <a:spcPct val="129000"/>
              </a:lnSpc>
              <a:buSzPct val="100000"/>
              <a:buChar char="•"/>
            </a:pPr>
            <a:r>
              <a:rPr lang="en-US" sz="900" dirty="0">
                <a:solidFill>
                  <a:srgbClr val="4A4A45"/>
                </a:solidFill>
                <a:latin typeface="Lato" pitchFamily="34" charset="0"/>
                <a:ea typeface="Lato" pitchFamily="34" charset="-122"/>
                <a:cs typeface="Lato" pitchFamily="34" charset="-120"/>
              </a:rPr>
              <a:t>monthly_sip_inflows</a:t>
            </a:r>
            <a:endParaRPr lang="en-US" sz="900" dirty="0"/>
          </a:p>
          <a:p>
            <a:pPr algn="l" marL="342900" indent="-342900">
              <a:lnSpc>
                <a:spcPct val="129000"/>
              </a:lnSpc>
              <a:buSzPct val="100000"/>
              <a:buChar char="•"/>
            </a:pPr>
            <a:r>
              <a:rPr lang="en-US" sz="900" dirty="0">
                <a:solidFill>
                  <a:srgbClr val="4A4A45"/>
                </a:solidFill>
                <a:latin typeface="Lato" pitchFamily="34" charset="0"/>
                <a:ea typeface="Lato" pitchFamily="34" charset="-122"/>
                <a:cs typeface="Lato" pitchFamily="34" charset="-120"/>
              </a:rPr>
              <a:t>category_inflows</a:t>
            </a:r>
            <a:endParaRPr lang="en-US" sz="900" dirty="0"/>
          </a:p>
          <a:p>
            <a:pPr algn="l" marL="342900" indent="-342900">
              <a:lnSpc>
                <a:spcPct val="129000"/>
              </a:lnSpc>
              <a:buSzPct val="100000"/>
              <a:buChar char="•"/>
            </a:pPr>
            <a:r>
              <a:rPr lang="en-US" sz="900" dirty="0">
                <a:solidFill>
                  <a:srgbClr val="4A4A45"/>
                </a:solidFill>
                <a:latin typeface="Lato" pitchFamily="34" charset="0"/>
                <a:ea typeface="Lato" pitchFamily="34" charset="-122"/>
                <a:cs typeface="Lato" pitchFamily="34" charset="-120"/>
              </a:rPr>
              <a:t>industry_folio_count</a:t>
            </a:r>
            <a:endParaRPr lang="en-US" sz="900" dirty="0"/>
          </a:p>
          <a:p>
            <a:pPr algn="l" marL="342900" indent="-342900">
              <a:lnSpc>
                <a:spcPct val="129000"/>
              </a:lnSpc>
              <a:buSzPct val="100000"/>
              <a:buChar char="•"/>
            </a:pPr>
            <a:r>
              <a:rPr lang="en-US" sz="900" dirty="0">
                <a:solidFill>
                  <a:srgbClr val="4A4A45"/>
                </a:solidFill>
                <a:latin typeface="Lato" pitchFamily="34" charset="0"/>
                <a:ea typeface="Lato" pitchFamily="34" charset="-122"/>
                <a:cs typeface="Lato" pitchFamily="34" charset="-120"/>
              </a:rPr>
              <a:t>scheme_performance</a:t>
            </a:r>
            <a:endParaRPr lang="en-US" sz="900" dirty="0"/>
          </a:p>
          <a:p>
            <a:pPr algn="l" marL="342900" indent="-342900">
              <a:lnSpc>
                <a:spcPct val="129000"/>
              </a:lnSpc>
              <a:buSzPct val="100000"/>
              <a:buChar char="•"/>
            </a:pPr>
            <a:r>
              <a:rPr lang="en-US" sz="900" dirty="0">
                <a:solidFill>
                  <a:srgbClr val="4A4A45"/>
                </a:solidFill>
                <a:latin typeface="Lato" pitchFamily="34" charset="0"/>
                <a:ea typeface="Lato" pitchFamily="34" charset="-122"/>
                <a:cs typeface="Lato" pitchFamily="34" charset="-120"/>
              </a:rPr>
              <a:t>investor_transactions</a:t>
            </a:r>
            <a:endParaRPr lang="en-US" sz="900" dirty="0"/>
          </a:p>
          <a:p>
            <a:pPr algn="l" marL="342900" indent="-342900">
              <a:lnSpc>
                <a:spcPct val="129000"/>
              </a:lnSpc>
              <a:buSzPct val="100000"/>
              <a:buChar char="•"/>
            </a:pPr>
            <a:r>
              <a:rPr lang="en-US" sz="900" dirty="0">
                <a:solidFill>
                  <a:srgbClr val="4A4A45"/>
                </a:solidFill>
                <a:latin typeface="Lato" pitchFamily="34" charset="0"/>
                <a:ea typeface="Lato" pitchFamily="34" charset="-122"/>
                <a:cs typeface="Lato" pitchFamily="34" charset="-120"/>
              </a:rPr>
              <a:t>portfolio_holdings</a:t>
            </a:r>
            <a:endParaRPr lang="en-US" sz="900" dirty="0"/>
          </a:p>
          <a:p>
            <a:pPr algn="l" marL="342900" indent="-342900">
              <a:lnSpc>
                <a:spcPct val="129000"/>
              </a:lnSpc>
              <a:buSzPct val="100000"/>
              <a:buChar char="•"/>
            </a:pPr>
            <a:r>
              <a:rPr lang="en-US" sz="900" dirty="0">
                <a:solidFill>
                  <a:srgbClr val="4A4A45"/>
                </a:solidFill>
                <a:latin typeface="Lato" pitchFamily="34" charset="0"/>
                <a:ea typeface="Lato" pitchFamily="34" charset="-122"/>
                <a:cs typeface="Lato" pitchFamily="34" charset="-120"/>
              </a:rPr>
              <a:t>benchmark_indices</a:t>
            </a:r>
            <a:endParaRPr lang="en-US" sz="900" dirty="0"/>
          </a:p>
        </p:txBody>
      </p:sp>
      <p:sp>
        <p:nvSpPr>
          <p:cNvPr id="8" name="Shape 5"/>
          <p:cNvSpPr/>
          <p:nvPr/>
        </p:nvSpPr>
        <p:spPr>
          <a:xfrm>
            <a:off x="3925119" y="3933453"/>
            <a:ext cx="4722763" cy="868561"/>
          </a:xfrm>
          <a:prstGeom prst="roundRect">
            <a:avLst>
              <a:gd name="adj" fmla="val 2008"/>
            </a:avLst>
          </a:prstGeom>
          <a:solidFill>
            <a:srgbClr val="EFECE6"/>
          </a:solidFill>
          <a:ln w="14288">
            <a:solidFill>
              <a:srgbClr val="CBC5B8"/>
            </a:solidFill>
            <a:prstDash val="solid"/>
          </a:ln>
        </p:spPr>
      </p:sp>
      <p:sp>
        <p:nvSpPr>
          <p:cNvPr id="9" name="Text 6"/>
          <p:cNvSpPr/>
          <p:nvPr/>
        </p:nvSpPr>
        <p:spPr>
          <a:xfrm>
            <a:off x="4055641" y="4063975"/>
            <a:ext cx="1453604" cy="181645"/>
          </a:xfrm>
          <a:prstGeom prst="rect">
            <a:avLst/>
          </a:prstGeom>
          <a:noFill/>
          <a:ln/>
        </p:spPr>
        <p:txBody>
          <a:bodyPr wrap="none" lIns="0" tIns="0" rIns="0" bIns="0" rtlCol="0" anchor="t"/>
          <a:lstStyle/>
          <a:p>
            <a:pPr algn="l" indent="0" marL="0">
              <a:lnSpc>
                <a:spcPct val="104000"/>
              </a:lnSpc>
              <a:buNone/>
            </a:pPr>
            <a:r>
              <a:rPr lang="en-US" sz="1100" b="1" dirty="0">
                <a:solidFill>
                  <a:srgbClr val="4A4A45"/>
                </a:solidFill>
                <a:latin typeface="Lato Bold" pitchFamily="34" charset="0"/>
                <a:ea typeface="Lato Bold" pitchFamily="34" charset="-122"/>
                <a:cs typeface="Lato Bold" pitchFamily="34" charset="-120"/>
              </a:rPr>
              <a:t>Analytical Benefits</a:t>
            </a:r>
            <a:endParaRPr lang="en-US" sz="1100" dirty="0"/>
          </a:p>
        </p:txBody>
      </p:sp>
      <p:sp>
        <p:nvSpPr>
          <p:cNvPr id="10" name="Text 7"/>
          <p:cNvSpPr/>
          <p:nvPr/>
        </p:nvSpPr>
        <p:spPr>
          <a:xfrm>
            <a:off x="4055641" y="4311030"/>
            <a:ext cx="4461718" cy="360462"/>
          </a:xfrm>
          <a:prstGeom prst="rect">
            <a:avLst/>
          </a:prstGeom>
          <a:noFill/>
          <a:ln/>
        </p:spPr>
        <p:txBody>
          <a:bodyPr wrap="square" lIns="0" tIns="0" rIns="0" bIns="0" rtlCol="0" anchor="t">
            <a:normAutofit/>
          </a:bodyPr>
          <a:lstStyle/>
          <a:p>
            <a:pPr algn="l" indent="0" marL="0">
              <a:lnSpc>
                <a:spcPct val="129000"/>
              </a:lnSpc>
              <a:buNone/>
            </a:pPr>
            <a:r>
              <a:rPr lang="en-US" sz="900" dirty="0">
                <a:solidFill>
                  <a:srgbClr val="4A4A45"/>
                </a:solidFill>
                <a:latin typeface="Lato" pitchFamily="34" charset="0"/>
                <a:ea typeface="Lato" pitchFamily="34" charset="-122"/>
                <a:cs typeface="Lato" pitchFamily="34" charset="-120"/>
              </a:rPr>
              <a:t>Structured querying, reproducible joins across datasets, and simplified workflows for generating Power BI extracts and SQL-driven metrics.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74489" y="370284"/>
            <a:ext cx="5507534" cy="308893"/>
          </a:xfrm>
          <a:prstGeom prst="rect">
            <a:avLst/>
          </a:prstGeom>
          <a:noFill/>
          <a:ln/>
        </p:spPr>
        <p:txBody>
          <a:bodyPr wrap="none" lIns="0" tIns="0" rIns="0" bIns="0" rtlCol="0" anchor="t"/>
          <a:lstStyle/>
          <a:p>
            <a:pPr algn="l" indent="0" marL="0">
              <a:lnSpc>
                <a:spcPct val="104000"/>
              </a:lnSpc>
              <a:buNone/>
            </a:pPr>
            <a:r>
              <a:rPr lang="en-US" sz="1900" b="1" dirty="0">
                <a:solidFill>
                  <a:srgbClr val="282824"/>
                </a:solidFill>
                <a:latin typeface="Lato Bold" pitchFamily="34" charset="0"/>
                <a:ea typeface="Lato Bold" pitchFamily="34" charset="-122"/>
                <a:cs typeface="Lato Bold" pitchFamily="34" charset="-120"/>
              </a:rPr>
              <a:t>SQL Analysis — Business Questions Answered</a:t>
            </a:r>
            <a:endParaRPr lang="en-US" sz="1900" dirty="0"/>
          </a:p>
        </p:txBody>
      </p:sp>
      <p:sp>
        <p:nvSpPr>
          <p:cNvPr id="3" name="Text 1"/>
          <p:cNvSpPr/>
          <p:nvPr/>
        </p:nvSpPr>
        <p:spPr>
          <a:xfrm>
            <a:off x="674489" y="836712"/>
            <a:ext cx="8252147" cy="142056"/>
          </a:xfrm>
          <a:prstGeom prst="rect">
            <a:avLst/>
          </a:prstGeom>
          <a:noFill/>
          <a:ln/>
        </p:spPr>
        <p:txBody>
          <a:bodyPr wrap="none" lIns="0" tIns="0" rIns="0" bIns="0" rtlCol="0" anchor="t"/>
          <a:lstStyle/>
          <a:p>
            <a:pPr algn="l" indent="0" marL="0">
              <a:lnSpc>
                <a:spcPct val="120000"/>
              </a:lnSpc>
              <a:buNone/>
            </a:pPr>
            <a:r>
              <a:rPr lang="en-US" sz="750" dirty="0">
                <a:solidFill>
                  <a:srgbClr val="4A4A45"/>
                </a:solidFill>
                <a:latin typeface="Lato" pitchFamily="34" charset="0"/>
                <a:ea typeface="Lato" pitchFamily="34" charset="-122"/>
                <a:cs typeface="Lato" pitchFamily="34" charset="-120"/>
              </a:rPr>
              <a:t>     A set of SQL queries validated trends surfaced in EDA and dashboard visuals. Representative queries:   </a:t>
            </a:r>
            <a:endParaRPr lang="en-US" sz="750" dirty="0"/>
          </a:p>
        </p:txBody>
      </p:sp>
      <p:sp>
        <p:nvSpPr>
          <p:cNvPr id="4" name="Shape 2"/>
          <p:cNvSpPr/>
          <p:nvPr/>
        </p:nvSpPr>
        <p:spPr>
          <a:xfrm>
            <a:off x="674489" y="1067321"/>
            <a:ext cx="222349" cy="222349"/>
          </a:xfrm>
          <a:prstGeom prst="roundRect">
            <a:avLst>
              <a:gd name="adj" fmla="val 6669"/>
            </a:avLst>
          </a:prstGeom>
          <a:solidFill>
            <a:srgbClr val="E5DFD2"/>
          </a:solidFill>
          <a:ln/>
        </p:spPr>
      </p:sp>
      <p:sp>
        <p:nvSpPr>
          <p:cNvPr id="5" name="Text 3"/>
          <p:cNvSpPr/>
          <p:nvPr/>
        </p:nvSpPr>
        <p:spPr>
          <a:xfrm>
            <a:off x="711547" y="1085850"/>
            <a:ext cx="148233" cy="185291"/>
          </a:xfrm>
          <a:prstGeom prst="rect">
            <a:avLst/>
          </a:prstGeom>
          <a:noFill/>
          <a:ln/>
        </p:spPr>
        <p:txBody>
          <a:bodyPr wrap="none" lIns="0" tIns="0" rIns="0" bIns="0" rtlCol="0" anchor="ctr"/>
          <a:lstStyle/>
          <a:p>
            <a:pPr algn="ctr" indent="0" marL="0">
              <a:lnSpc>
                <a:spcPct val="100000"/>
              </a:lnSpc>
              <a:buNone/>
            </a:pPr>
            <a:r>
              <a:rPr lang="en-US" sz="1150" b="1" dirty="0">
                <a:solidFill>
                  <a:srgbClr val="4A4A45"/>
                </a:solidFill>
                <a:latin typeface="Lato Bold" pitchFamily="34" charset="0"/>
                <a:ea typeface="Lato Bold" pitchFamily="34" charset="-122"/>
                <a:cs typeface="Lato Bold" pitchFamily="34" charset="-120"/>
              </a:rPr>
              <a:t>1</a:t>
            </a:r>
            <a:endParaRPr lang="en-US" sz="1150" dirty="0"/>
          </a:p>
        </p:txBody>
      </p:sp>
      <p:sp>
        <p:nvSpPr>
          <p:cNvPr id="6" name="Text 4"/>
          <p:cNvSpPr/>
          <p:nvPr/>
        </p:nvSpPr>
        <p:spPr>
          <a:xfrm>
            <a:off x="975568" y="1101254"/>
            <a:ext cx="1249710" cy="154409"/>
          </a:xfrm>
          <a:prstGeom prst="rect">
            <a:avLst/>
          </a:prstGeom>
          <a:noFill/>
          <a:ln/>
        </p:spPr>
        <p:txBody>
          <a:bodyPr wrap="none" lIns="0" tIns="0" rIns="0" bIns="0" rtlCol="0" anchor="t"/>
          <a:lstStyle/>
          <a:p>
            <a:pPr algn="l" indent="0" marL="0">
              <a:lnSpc>
                <a:spcPct val="104000"/>
              </a:lnSpc>
              <a:buNone/>
            </a:pPr>
            <a:r>
              <a:rPr lang="en-US" sz="950" b="1" dirty="0">
                <a:solidFill>
                  <a:srgbClr val="4A4A45"/>
                </a:solidFill>
                <a:latin typeface="Lato Bold" pitchFamily="34" charset="0"/>
                <a:ea typeface="Lato Bold" pitchFamily="34" charset="-122"/>
                <a:cs typeface="Lato Bold" pitchFamily="34" charset="-120"/>
              </a:rPr>
              <a:t>Query 1: AUM Leaders</a:t>
            </a:r>
            <a:endParaRPr lang="en-US" sz="950" dirty="0"/>
          </a:p>
        </p:txBody>
      </p:sp>
      <p:sp>
        <p:nvSpPr>
          <p:cNvPr id="7" name="Text 5"/>
          <p:cNvSpPr/>
          <p:nvPr/>
        </p:nvSpPr>
        <p:spPr>
          <a:xfrm>
            <a:off x="975568" y="1302916"/>
            <a:ext cx="7493868" cy="142056"/>
          </a:xfrm>
          <a:prstGeom prst="rect">
            <a:avLst/>
          </a:prstGeom>
          <a:noFill/>
          <a:ln/>
        </p:spPr>
        <p:txBody>
          <a:bodyPr wrap="none" lIns="0" tIns="0" rIns="0" bIns="0" rtlCol="0" anchor="t"/>
          <a:lstStyle/>
          <a:p>
            <a:pPr algn="l" indent="0" marL="0">
              <a:lnSpc>
                <a:spcPct val="120000"/>
              </a:lnSpc>
              <a:buNone/>
            </a:pPr>
            <a:r>
              <a:rPr lang="en-US" sz="750" dirty="0">
                <a:solidFill>
                  <a:srgbClr val="4A4A45"/>
                </a:solidFill>
                <a:latin typeface="Lato" pitchFamily="34" charset="0"/>
                <a:ea typeface="Lato" pitchFamily="34" charset="-122"/>
                <a:cs typeface="Lato" pitchFamily="34" charset="-120"/>
              </a:rPr>
              <a:t>Identify top fund houses by Assets Under Management to reveal concentration.</a:t>
            </a:r>
            <a:endParaRPr lang="en-US" sz="750" dirty="0"/>
          </a:p>
        </p:txBody>
      </p:sp>
      <p:sp>
        <p:nvSpPr>
          <p:cNvPr id="8" name="Shape 6"/>
          <p:cNvSpPr/>
          <p:nvPr/>
        </p:nvSpPr>
        <p:spPr>
          <a:xfrm>
            <a:off x="674489" y="1602507"/>
            <a:ext cx="222349" cy="222349"/>
          </a:xfrm>
          <a:prstGeom prst="roundRect">
            <a:avLst>
              <a:gd name="adj" fmla="val 6669"/>
            </a:avLst>
          </a:prstGeom>
          <a:solidFill>
            <a:srgbClr val="E5DFD2"/>
          </a:solidFill>
          <a:ln/>
        </p:spPr>
      </p:sp>
      <p:sp>
        <p:nvSpPr>
          <p:cNvPr id="9" name="Text 7"/>
          <p:cNvSpPr/>
          <p:nvPr/>
        </p:nvSpPr>
        <p:spPr>
          <a:xfrm>
            <a:off x="711547" y="1621036"/>
            <a:ext cx="148233" cy="185291"/>
          </a:xfrm>
          <a:prstGeom prst="rect">
            <a:avLst/>
          </a:prstGeom>
          <a:noFill/>
          <a:ln/>
        </p:spPr>
        <p:txBody>
          <a:bodyPr wrap="none" lIns="0" tIns="0" rIns="0" bIns="0" rtlCol="0" anchor="ctr"/>
          <a:lstStyle/>
          <a:p>
            <a:pPr algn="ctr" indent="0" marL="0">
              <a:lnSpc>
                <a:spcPct val="100000"/>
              </a:lnSpc>
              <a:buNone/>
            </a:pPr>
            <a:r>
              <a:rPr lang="en-US" sz="1150" b="1" dirty="0">
                <a:solidFill>
                  <a:srgbClr val="4A4A45"/>
                </a:solidFill>
                <a:latin typeface="Lato Bold" pitchFamily="34" charset="0"/>
                <a:ea typeface="Lato Bold" pitchFamily="34" charset="-122"/>
                <a:cs typeface="Lato Bold" pitchFamily="34" charset="-120"/>
              </a:rPr>
              <a:t>2</a:t>
            </a:r>
            <a:endParaRPr lang="en-US" sz="1150" dirty="0"/>
          </a:p>
        </p:txBody>
      </p:sp>
      <p:sp>
        <p:nvSpPr>
          <p:cNvPr id="10" name="Text 8"/>
          <p:cNvSpPr/>
          <p:nvPr/>
        </p:nvSpPr>
        <p:spPr>
          <a:xfrm>
            <a:off x="975568" y="1636440"/>
            <a:ext cx="1235571" cy="154409"/>
          </a:xfrm>
          <a:prstGeom prst="rect">
            <a:avLst/>
          </a:prstGeom>
          <a:noFill/>
          <a:ln/>
        </p:spPr>
        <p:txBody>
          <a:bodyPr wrap="none" lIns="0" tIns="0" rIns="0" bIns="0" rtlCol="0" anchor="t"/>
          <a:lstStyle/>
          <a:p>
            <a:pPr algn="l" indent="0" marL="0">
              <a:lnSpc>
                <a:spcPct val="104000"/>
              </a:lnSpc>
              <a:buNone/>
            </a:pPr>
            <a:r>
              <a:rPr lang="en-US" sz="950" b="1" dirty="0">
                <a:solidFill>
                  <a:srgbClr val="4A4A45"/>
                </a:solidFill>
                <a:latin typeface="Lato Bold" pitchFamily="34" charset="0"/>
                <a:ea typeface="Lato Bold" pitchFamily="34" charset="-122"/>
                <a:cs typeface="Lato Bold" pitchFamily="34" charset="-120"/>
              </a:rPr>
              <a:t>Query 2: Top Schemes</a:t>
            </a:r>
            <a:endParaRPr lang="en-US" sz="950" dirty="0"/>
          </a:p>
        </p:txBody>
      </p:sp>
      <p:sp>
        <p:nvSpPr>
          <p:cNvPr id="11" name="Text 9"/>
          <p:cNvSpPr/>
          <p:nvPr/>
        </p:nvSpPr>
        <p:spPr>
          <a:xfrm>
            <a:off x="975568" y="1838102"/>
            <a:ext cx="7493868" cy="142056"/>
          </a:xfrm>
          <a:prstGeom prst="rect">
            <a:avLst/>
          </a:prstGeom>
          <a:noFill/>
          <a:ln/>
        </p:spPr>
        <p:txBody>
          <a:bodyPr wrap="none" lIns="0" tIns="0" rIns="0" bIns="0" rtlCol="0" anchor="t"/>
          <a:lstStyle/>
          <a:p>
            <a:pPr algn="l" indent="0" marL="0">
              <a:lnSpc>
                <a:spcPct val="120000"/>
              </a:lnSpc>
              <a:buNone/>
            </a:pPr>
            <a:r>
              <a:rPr lang="en-US" sz="750" dirty="0">
                <a:solidFill>
                  <a:srgbClr val="4A4A45"/>
                </a:solidFill>
                <a:latin typeface="Lato" pitchFamily="34" charset="0"/>
                <a:ea typeface="Lato" pitchFamily="34" charset="-122"/>
                <a:cs typeface="Lato" pitchFamily="34" charset="-120"/>
              </a:rPr>
              <a:t>Rank mutual fund schemes by risk-adjusted returns (Sharpe Ratio, annualized returns).</a:t>
            </a:r>
            <a:endParaRPr lang="en-US" sz="750" dirty="0"/>
          </a:p>
        </p:txBody>
      </p:sp>
      <p:sp>
        <p:nvSpPr>
          <p:cNvPr id="12" name="Shape 10"/>
          <p:cNvSpPr/>
          <p:nvPr/>
        </p:nvSpPr>
        <p:spPr>
          <a:xfrm>
            <a:off x="674489" y="2137693"/>
            <a:ext cx="222349" cy="222349"/>
          </a:xfrm>
          <a:prstGeom prst="roundRect">
            <a:avLst>
              <a:gd name="adj" fmla="val 6669"/>
            </a:avLst>
          </a:prstGeom>
          <a:solidFill>
            <a:srgbClr val="E5DFD2"/>
          </a:solidFill>
          <a:ln/>
        </p:spPr>
      </p:sp>
      <p:sp>
        <p:nvSpPr>
          <p:cNvPr id="13" name="Text 11"/>
          <p:cNvSpPr/>
          <p:nvPr/>
        </p:nvSpPr>
        <p:spPr>
          <a:xfrm>
            <a:off x="711547" y="2156222"/>
            <a:ext cx="148233" cy="185291"/>
          </a:xfrm>
          <a:prstGeom prst="rect">
            <a:avLst/>
          </a:prstGeom>
          <a:noFill/>
          <a:ln/>
        </p:spPr>
        <p:txBody>
          <a:bodyPr wrap="none" lIns="0" tIns="0" rIns="0" bIns="0" rtlCol="0" anchor="ctr"/>
          <a:lstStyle/>
          <a:p>
            <a:pPr algn="ctr" indent="0" marL="0">
              <a:lnSpc>
                <a:spcPct val="100000"/>
              </a:lnSpc>
              <a:buNone/>
            </a:pPr>
            <a:r>
              <a:rPr lang="en-US" sz="1150" b="1" dirty="0">
                <a:solidFill>
                  <a:srgbClr val="4A4A45"/>
                </a:solidFill>
                <a:latin typeface="Lato Bold" pitchFamily="34" charset="0"/>
                <a:ea typeface="Lato Bold" pitchFamily="34" charset="-122"/>
                <a:cs typeface="Lato Bold" pitchFamily="34" charset="-120"/>
              </a:rPr>
              <a:t>3</a:t>
            </a:r>
            <a:endParaRPr lang="en-US" sz="1150" dirty="0"/>
          </a:p>
        </p:txBody>
      </p:sp>
      <p:sp>
        <p:nvSpPr>
          <p:cNvPr id="14" name="Text 12"/>
          <p:cNvSpPr/>
          <p:nvPr/>
        </p:nvSpPr>
        <p:spPr>
          <a:xfrm>
            <a:off x="975568" y="2171626"/>
            <a:ext cx="1235571" cy="154409"/>
          </a:xfrm>
          <a:prstGeom prst="rect">
            <a:avLst/>
          </a:prstGeom>
          <a:noFill/>
          <a:ln/>
        </p:spPr>
        <p:txBody>
          <a:bodyPr wrap="none" lIns="0" tIns="0" rIns="0" bIns="0" rtlCol="0" anchor="t"/>
          <a:lstStyle/>
          <a:p>
            <a:pPr algn="l" indent="0" marL="0">
              <a:lnSpc>
                <a:spcPct val="104000"/>
              </a:lnSpc>
              <a:buNone/>
            </a:pPr>
            <a:r>
              <a:rPr lang="en-US" sz="950" b="1" dirty="0">
                <a:solidFill>
                  <a:srgbClr val="4A4A45"/>
                </a:solidFill>
                <a:latin typeface="Lato Bold" pitchFamily="34" charset="0"/>
                <a:ea typeface="Lato Bold" pitchFamily="34" charset="-122"/>
                <a:cs typeface="Lato Bold" pitchFamily="34" charset="-120"/>
              </a:rPr>
              <a:t>Query 3: SIP Trends</a:t>
            </a:r>
            <a:endParaRPr lang="en-US" sz="950" dirty="0"/>
          </a:p>
        </p:txBody>
      </p:sp>
      <p:sp>
        <p:nvSpPr>
          <p:cNvPr id="15" name="Text 13"/>
          <p:cNvSpPr/>
          <p:nvPr/>
        </p:nvSpPr>
        <p:spPr>
          <a:xfrm>
            <a:off x="975568" y="2373288"/>
            <a:ext cx="7493868" cy="142056"/>
          </a:xfrm>
          <a:prstGeom prst="rect">
            <a:avLst/>
          </a:prstGeom>
          <a:noFill/>
          <a:ln/>
        </p:spPr>
        <p:txBody>
          <a:bodyPr wrap="none" lIns="0" tIns="0" rIns="0" bIns="0" rtlCol="0" anchor="t"/>
          <a:lstStyle/>
          <a:p>
            <a:pPr algn="l" indent="0" marL="0">
              <a:lnSpc>
                <a:spcPct val="120000"/>
              </a:lnSpc>
              <a:buNone/>
            </a:pPr>
            <a:r>
              <a:rPr lang="en-US" sz="750" dirty="0">
                <a:solidFill>
                  <a:srgbClr val="4A4A45"/>
                </a:solidFill>
                <a:latin typeface="Lato" pitchFamily="34" charset="0"/>
                <a:ea typeface="Lato" pitchFamily="34" charset="-122"/>
                <a:cs typeface="Lato" pitchFamily="34" charset="-120"/>
              </a:rPr>
              <a:t>Monthly SIP contributions and growth patterns to assess resilience through market cycles.</a:t>
            </a:r>
            <a:endParaRPr lang="en-US" sz="750" dirty="0"/>
          </a:p>
        </p:txBody>
      </p:sp>
      <p:sp>
        <p:nvSpPr>
          <p:cNvPr id="16" name="Shape 14"/>
          <p:cNvSpPr/>
          <p:nvPr/>
        </p:nvSpPr>
        <p:spPr>
          <a:xfrm>
            <a:off x="674489" y="2672879"/>
            <a:ext cx="222349" cy="222349"/>
          </a:xfrm>
          <a:prstGeom prst="roundRect">
            <a:avLst>
              <a:gd name="adj" fmla="val 6669"/>
            </a:avLst>
          </a:prstGeom>
          <a:solidFill>
            <a:srgbClr val="E5DFD2"/>
          </a:solidFill>
          <a:ln/>
        </p:spPr>
      </p:sp>
      <p:sp>
        <p:nvSpPr>
          <p:cNvPr id="17" name="Text 15"/>
          <p:cNvSpPr/>
          <p:nvPr/>
        </p:nvSpPr>
        <p:spPr>
          <a:xfrm>
            <a:off x="711547" y="2691408"/>
            <a:ext cx="148233" cy="185291"/>
          </a:xfrm>
          <a:prstGeom prst="rect">
            <a:avLst/>
          </a:prstGeom>
          <a:noFill/>
          <a:ln/>
        </p:spPr>
        <p:txBody>
          <a:bodyPr wrap="none" lIns="0" tIns="0" rIns="0" bIns="0" rtlCol="0" anchor="ctr"/>
          <a:lstStyle/>
          <a:p>
            <a:pPr algn="ctr" indent="0" marL="0">
              <a:lnSpc>
                <a:spcPct val="100000"/>
              </a:lnSpc>
              <a:buNone/>
            </a:pPr>
            <a:r>
              <a:rPr lang="en-US" sz="1150" b="1" dirty="0">
                <a:solidFill>
                  <a:srgbClr val="4A4A45"/>
                </a:solidFill>
                <a:latin typeface="Lato Bold" pitchFamily="34" charset="0"/>
                <a:ea typeface="Lato Bold" pitchFamily="34" charset="-122"/>
                <a:cs typeface="Lato Bold" pitchFamily="34" charset="-120"/>
              </a:rPr>
              <a:t>4</a:t>
            </a:r>
            <a:endParaRPr lang="en-US" sz="1150" dirty="0"/>
          </a:p>
        </p:txBody>
      </p:sp>
      <p:sp>
        <p:nvSpPr>
          <p:cNvPr id="18" name="Text 16"/>
          <p:cNvSpPr/>
          <p:nvPr/>
        </p:nvSpPr>
        <p:spPr>
          <a:xfrm>
            <a:off x="975568" y="2706812"/>
            <a:ext cx="1446833" cy="154409"/>
          </a:xfrm>
          <a:prstGeom prst="rect">
            <a:avLst/>
          </a:prstGeom>
          <a:noFill/>
          <a:ln/>
        </p:spPr>
        <p:txBody>
          <a:bodyPr wrap="none" lIns="0" tIns="0" rIns="0" bIns="0" rtlCol="0" anchor="t"/>
          <a:lstStyle/>
          <a:p>
            <a:pPr algn="l" indent="0" marL="0">
              <a:lnSpc>
                <a:spcPct val="104000"/>
              </a:lnSpc>
              <a:buNone/>
            </a:pPr>
            <a:r>
              <a:rPr lang="en-US" sz="950" b="1" dirty="0">
                <a:solidFill>
                  <a:srgbClr val="4A4A45"/>
                </a:solidFill>
                <a:latin typeface="Lato Bold" pitchFamily="34" charset="0"/>
                <a:ea typeface="Lato Bold" pitchFamily="34" charset="-122"/>
                <a:cs typeface="Lato Bold" pitchFamily="34" charset="-120"/>
              </a:rPr>
              <a:t>Query 4: Category Inflows</a:t>
            </a:r>
            <a:endParaRPr lang="en-US" sz="950" dirty="0"/>
          </a:p>
        </p:txBody>
      </p:sp>
      <p:sp>
        <p:nvSpPr>
          <p:cNvPr id="19" name="Text 17"/>
          <p:cNvSpPr/>
          <p:nvPr/>
        </p:nvSpPr>
        <p:spPr>
          <a:xfrm>
            <a:off x="975568" y="2908474"/>
            <a:ext cx="7493868" cy="142056"/>
          </a:xfrm>
          <a:prstGeom prst="rect">
            <a:avLst/>
          </a:prstGeom>
          <a:noFill/>
          <a:ln/>
        </p:spPr>
        <p:txBody>
          <a:bodyPr wrap="none" lIns="0" tIns="0" rIns="0" bIns="0" rtlCol="0" anchor="t"/>
          <a:lstStyle/>
          <a:p>
            <a:pPr algn="l" indent="0" marL="0">
              <a:lnSpc>
                <a:spcPct val="120000"/>
              </a:lnSpc>
              <a:buNone/>
            </a:pPr>
            <a:r>
              <a:rPr lang="en-US" sz="750" dirty="0">
                <a:solidFill>
                  <a:srgbClr val="4A4A45"/>
                </a:solidFill>
                <a:latin typeface="Lato" pitchFamily="34" charset="0"/>
                <a:ea typeface="Lato" pitchFamily="34" charset="-122"/>
                <a:cs typeface="Lato" pitchFamily="34" charset="-120"/>
              </a:rPr>
              <a:t>Category-wise net inflows to identify investor preference shifts.</a:t>
            </a:r>
            <a:endParaRPr lang="en-US" sz="750" dirty="0"/>
          </a:p>
        </p:txBody>
      </p:sp>
      <p:sp>
        <p:nvSpPr>
          <p:cNvPr id="20" name="Shape 18"/>
          <p:cNvSpPr/>
          <p:nvPr/>
        </p:nvSpPr>
        <p:spPr>
          <a:xfrm>
            <a:off x="674489" y="3208065"/>
            <a:ext cx="222349" cy="222349"/>
          </a:xfrm>
          <a:prstGeom prst="roundRect">
            <a:avLst>
              <a:gd name="adj" fmla="val 6669"/>
            </a:avLst>
          </a:prstGeom>
          <a:solidFill>
            <a:srgbClr val="E5DFD2"/>
          </a:solidFill>
          <a:ln/>
        </p:spPr>
      </p:sp>
      <p:sp>
        <p:nvSpPr>
          <p:cNvPr id="21" name="Text 19"/>
          <p:cNvSpPr/>
          <p:nvPr/>
        </p:nvSpPr>
        <p:spPr>
          <a:xfrm>
            <a:off x="711547" y="3226594"/>
            <a:ext cx="148233" cy="185291"/>
          </a:xfrm>
          <a:prstGeom prst="rect">
            <a:avLst/>
          </a:prstGeom>
          <a:noFill/>
          <a:ln/>
        </p:spPr>
        <p:txBody>
          <a:bodyPr wrap="none" lIns="0" tIns="0" rIns="0" bIns="0" rtlCol="0" anchor="ctr"/>
          <a:lstStyle/>
          <a:p>
            <a:pPr algn="ctr" indent="0" marL="0">
              <a:lnSpc>
                <a:spcPct val="100000"/>
              </a:lnSpc>
              <a:buNone/>
            </a:pPr>
            <a:r>
              <a:rPr lang="en-US" sz="1150" b="1" dirty="0">
                <a:solidFill>
                  <a:srgbClr val="4A4A45"/>
                </a:solidFill>
                <a:latin typeface="Lato Bold" pitchFamily="34" charset="0"/>
                <a:ea typeface="Lato Bold" pitchFamily="34" charset="-122"/>
                <a:cs typeface="Lato Bold" pitchFamily="34" charset="-120"/>
              </a:rPr>
              <a:t>5</a:t>
            </a:r>
            <a:endParaRPr lang="en-US" sz="1150" dirty="0"/>
          </a:p>
        </p:txBody>
      </p:sp>
      <p:sp>
        <p:nvSpPr>
          <p:cNvPr id="22" name="Text 20"/>
          <p:cNvSpPr/>
          <p:nvPr/>
        </p:nvSpPr>
        <p:spPr>
          <a:xfrm>
            <a:off x="975568" y="3241997"/>
            <a:ext cx="1992511" cy="154409"/>
          </a:xfrm>
          <a:prstGeom prst="rect">
            <a:avLst/>
          </a:prstGeom>
          <a:noFill/>
          <a:ln/>
        </p:spPr>
        <p:txBody>
          <a:bodyPr wrap="none" lIns="0" tIns="0" rIns="0" bIns="0" rtlCol="0" anchor="t"/>
          <a:lstStyle/>
          <a:p>
            <a:pPr algn="l" indent="0" marL="0">
              <a:lnSpc>
                <a:spcPct val="104000"/>
              </a:lnSpc>
              <a:buNone/>
            </a:pPr>
            <a:r>
              <a:rPr lang="en-US" sz="950" b="1" dirty="0">
                <a:solidFill>
                  <a:srgbClr val="4A4A45"/>
                </a:solidFill>
                <a:latin typeface="Lato Bold" pitchFamily="34" charset="0"/>
                <a:ea typeface="Lato Bold" pitchFamily="34" charset="-122"/>
                <a:cs typeface="Lato Bold" pitchFamily="34" charset="-120"/>
              </a:rPr>
              <a:t>Query 5: Transactions by Geography</a:t>
            </a:r>
            <a:endParaRPr lang="en-US" sz="950" dirty="0"/>
          </a:p>
        </p:txBody>
      </p:sp>
      <p:sp>
        <p:nvSpPr>
          <p:cNvPr id="23" name="Text 21"/>
          <p:cNvSpPr/>
          <p:nvPr/>
        </p:nvSpPr>
        <p:spPr>
          <a:xfrm>
            <a:off x="975568" y="3443660"/>
            <a:ext cx="7493868" cy="142056"/>
          </a:xfrm>
          <a:prstGeom prst="rect">
            <a:avLst/>
          </a:prstGeom>
          <a:noFill/>
          <a:ln/>
        </p:spPr>
        <p:txBody>
          <a:bodyPr wrap="none" lIns="0" tIns="0" rIns="0" bIns="0" rtlCol="0" anchor="t"/>
          <a:lstStyle/>
          <a:p>
            <a:pPr algn="l" indent="0" marL="0">
              <a:lnSpc>
                <a:spcPct val="120000"/>
              </a:lnSpc>
              <a:buNone/>
            </a:pPr>
            <a:r>
              <a:rPr lang="en-US" sz="750" dirty="0">
                <a:solidFill>
                  <a:srgbClr val="4A4A45"/>
                </a:solidFill>
                <a:latin typeface="Lato" pitchFamily="34" charset="0"/>
                <a:ea typeface="Lato" pitchFamily="34" charset="-122"/>
                <a:cs typeface="Lato" pitchFamily="34" charset="-120"/>
              </a:rPr>
              <a:t>State-wise transaction volumes and demographic splits.</a:t>
            </a:r>
            <a:endParaRPr lang="en-US" sz="750" dirty="0"/>
          </a:p>
        </p:txBody>
      </p:sp>
      <p:sp>
        <p:nvSpPr>
          <p:cNvPr id="24" name="Shape 22"/>
          <p:cNvSpPr/>
          <p:nvPr/>
        </p:nvSpPr>
        <p:spPr>
          <a:xfrm>
            <a:off x="674489" y="3743251"/>
            <a:ext cx="222349" cy="222349"/>
          </a:xfrm>
          <a:prstGeom prst="roundRect">
            <a:avLst>
              <a:gd name="adj" fmla="val 6669"/>
            </a:avLst>
          </a:prstGeom>
          <a:solidFill>
            <a:srgbClr val="E5DFD2"/>
          </a:solidFill>
          <a:ln/>
        </p:spPr>
      </p:sp>
      <p:sp>
        <p:nvSpPr>
          <p:cNvPr id="25" name="Text 23"/>
          <p:cNvSpPr/>
          <p:nvPr/>
        </p:nvSpPr>
        <p:spPr>
          <a:xfrm>
            <a:off x="711547" y="3761780"/>
            <a:ext cx="148233" cy="185291"/>
          </a:xfrm>
          <a:prstGeom prst="rect">
            <a:avLst/>
          </a:prstGeom>
          <a:noFill/>
          <a:ln/>
        </p:spPr>
        <p:txBody>
          <a:bodyPr wrap="none" lIns="0" tIns="0" rIns="0" bIns="0" rtlCol="0" anchor="ctr"/>
          <a:lstStyle/>
          <a:p>
            <a:pPr algn="ctr" indent="0" marL="0">
              <a:lnSpc>
                <a:spcPct val="100000"/>
              </a:lnSpc>
              <a:buNone/>
            </a:pPr>
            <a:r>
              <a:rPr lang="en-US" sz="1150" b="1" dirty="0">
                <a:solidFill>
                  <a:srgbClr val="4A4A45"/>
                </a:solidFill>
                <a:latin typeface="Lato Bold" pitchFamily="34" charset="0"/>
                <a:ea typeface="Lato Bold" pitchFamily="34" charset="-122"/>
                <a:cs typeface="Lato Bold" pitchFamily="34" charset="-120"/>
              </a:rPr>
              <a:t>6</a:t>
            </a:r>
            <a:endParaRPr lang="en-US" sz="1150" dirty="0"/>
          </a:p>
        </p:txBody>
      </p:sp>
      <p:sp>
        <p:nvSpPr>
          <p:cNvPr id="26" name="Text 24"/>
          <p:cNvSpPr/>
          <p:nvPr/>
        </p:nvSpPr>
        <p:spPr>
          <a:xfrm>
            <a:off x="975568" y="3777183"/>
            <a:ext cx="1830437" cy="154409"/>
          </a:xfrm>
          <a:prstGeom prst="rect">
            <a:avLst/>
          </a:prstGeom>
          <a:noFill/>
          <a:ln/>
        </p:spPr>
        <p:txBody>
          <a:bodyPr wrap="none" lIns="0" tIns="0" rIns="0" bIns="0" rtlCol="0" anchor="t"/>
          <a:lstStyle/>
          <a:p>
            <a:pPr algn="l" indent="0" marL="0">
              <a:lnSpc>
                <a:spcPct val="104000"/>
              </a:lnSpc>
              <a:buNone/>
            </a:pPr>
            <a:r>
              <a:rPr lang="en-US" sz="950" b="1" dirty="0">
                <a:solidFill>
                  <a:srgbClr val="4A4A45"/>
                </a:solidFill>
                <a:latin typeface="Lato Bold" pitchFamily="34" charset="0"/>
                <a:ea typeface="Lato Bold" pitchFamily="34" charset="-122"/>
                <a:cs typeface="Lato Bold" pitchFamily="34" charset="-120"/>
              </a:rPr>
              <a:t>Query 6: Benchmark Comparison</a:t>
            </a:r>
            <a:endParaRPr lang="en-US" sz="950" dirty="0"/>
          </a:p>
        </p:txBody>
      </p:sp>
      <p:sp>
        <p:nvSpPr>
          <p:cNvPr id="27" name="Text 25"/>
          <p:cNvSpPr/>
          <p:nvPr/>
        </p:nvSpPr>
        <p:spPr>
          <a:xfrm>
            <a:off x="975568" y="3978846"/>
            <a:ext cx="7493868" cy="142056"/>
          </a:xfrm>
          <a:prstGeom prst="rect">
            <a:avLst/>
          </a:prstGeom>
          <a:noFill/>
          <a:ln/>
        </p:spPr>
        <p:txBody>
          <a:bodyPr wrap="none" lIns="0" tIns="0" rIns="0" bIns="0" rtlCol="0" anchor="t"/>
          <a:lstStyle/>
          <a:p>
            <a:pPr algn="l" indent="0" marL="0">
              <a:lnSpc>
                <a:spcPct val="120000"/>
              </a:lnSpc>
              <a:buNone/>
            </a:pPr>
            <a:r>
              <a:rPr lang="en-US" sz="750" dirty="0">
                <a:solidFill>
                  <a:srgbClr val="4A4A45"/>
                </a:solidFill>
                <a:latin typeface="Lato" pitchFamily="34" charset="0"/>
                <a:ea typeface="Lato" pitchFamily="34" charset="-122"/>
                <a:cs typeface="Lato" pitchFamily="34" charset="-120"/>
              </a:rPr>
              <a:t>Compare scheme NAV trends against benchmark indices for performance attribution.</a:t>
            </a:r>
            <a:endParaRPr lang="en-US" sz="750" dirty="0"/>
          </a:p>
        </p:txBody>
      </p:sp>
      <p:sp>
        <p:nvSpPr>
          <p:cNvPr id="28" name="Shape 26"/>
          <p:cNvSpPr/>
          <p:nvPr/>
        </p:nvSpPr>
        <p:spPr>
          <a:xfrm>
            <a:off x="674489" y="4209455"/>
            <a:ext cx="7794947" cy="475208"/>
          </a:xfrm>
          <a:prstGeom prst="roundRect">
            <a:avLst>
              <a:gd name="adj" fmla="val 3120"/>
            </a:avLst>
          </a:prstGeom>
          <a:solidFill>
            <a:srgbClr val="FCF2B5"/>
          </a:solidFill>
          <a:ln/>
        </p:spPr>
      </p:sp>
      <p:pic>
        <p:nvPicPr>
          <p:cNvPr id="29" name="Image 0" descr="preencoded.png">    </p:cNvPr>
          <p:cNvPicPr>
            <a:picLocks noChangeAspect="1"/>
          </p:cNvPicPr>
          <p:nvPr/>
        </p:nvPicPr>
        <p:blipFill>
          <a:blip r:embed="rId1"/>
          <a:stretch>
            <a:fillRect/>
          </a:stretch>
        </p:blipFill>
        <p:spPr>
          <a:xfrm>
            <a:off x="773311" y="4341763"/>
            <a:ext cx="123527" cy="98822"/>
          </a:xfrm>
          <a:prstGeom prst="rect">
            <a:avLst/>
          </a:prstGeom>
        </p:spPr>
      </p:pic>
      <p:sp>
        <p:nvSpPr>
          <p:cNvPr id="30" name="Text 27"/>
          <p:cNvSpPr/>
          <p:nvPr/>
        </p:nvSpPr>
        <p:spPr>
          <a:xfrm>
            <a:off x="995660" y="4305002"/>
            <a:ext cx="7374954" cy="284113"/>
          </a:xfrm>
          <a:prstGeom prst="rect">
            <a:avLst/>
          </a:prstGeom>
          <a:noFill/>
          <a:ln/>
        </p:spPr>
        <p:txBody>
          <a:bodyPr wrap="square" lIns="0" tIns="0" rIns="0" bIns="0" rtlCol="0" anchor="t">
            <a:normAutofit/>
          </a:bodyPr>
          <a:lstStyle/>
          <a:p>
            <a:pPr algn="l" indent="0" marL="0">
              <a:lnSpc>
                <a:spcPct val="120000"/>
              </a:lnSpc>
              <a:buNone/>
            </a:pPr>
            <a:r>
              <a:rPr lang="en-US" sz="750" dirty="0">
                <a:solidFill>
                  <a:srgbClr val="000000"/>
                </a:solidFill>
                <a:latin typeface="Lato" pitchFamily="34" charset="0"/>
                <a:ea typeface="Lato" pitchFamily="34" charset="-122"/>
                <a:cs typeface="Lato" pitchFamily="34" charset="-120"/>
              </a:rPr>
              <a:t> Data cleaning is essential: null handling, duplicate removal, date conversion, column standardization, and numeric validation were prerequisites to avoid misleading analytics.</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2126531" y="341114"/>
            <a:ext cx="3687366" cy="193849"/>
          </a:xfrm>
          <a:prstGeom prst="rect">
            <a:avLst/>
          </a:prstGeom>
          <a:noFill/>
          <a:ln/>
        </p:spPr>
        <p:txBody>
          <a:bodyPr wrap="none" lIns="0" tIns="0" rIns="0" bIns="0" rtlCol="0" anchor="t"/>
          <a:lstStyle/>
          <a:p>
            <a:pPr algn="l" indent="0" marL="0">
              <a:lnSpc>
                <a:spcPct val="104000"/>
              </a:lnSpc>
              <a:buNone/>
            </a:pPr>
            <a:r>
              <a:rPr lang="en-US" sz="1200" b="1" dirty="0">
                <a:solidFill>
                  <a:srgbClr val="282824"/>
                </a:solidFill>
                <a:latin typeface="Lato Bold" pitchFamily="34" charset="0"/>
                <a:ea typeface="Lato Bold" pitchFamily="34" charset="-122"/>
                <a:cs typeface="Lato Bold" pitchFamily="34" charset="-120"/>
              </a:rPr>
              <a:t>Exploratory Data Analysis — Key Observations</a:t>
            </a:r>
            <a:endParaRPr lang="en-US" sz="1200" dirty="0"/>
          </a:p>
        </p:txBody>
      </p:sp>
      <p:pic>
        <p:nvPicPr>
          <p:cNvPr id="3" name="Image 0" descr="preencoded.png">    </p:cNvPr>
          <p:cNvPicPr>
            <a:picLocks noChangeAspect="1"/>
          </p:cNvPicPr>
          <p:nvPr/>
        </p:nvPicPr>
        <p:blipFill>
          <a:blip r:embed="rId1"/>
          <a:stretch>
            <a:fillRect/>
          </a:stretch>
        </p:blipFill>
        <p:spPr>
          <a:xfrm>
            <a:off x="2126531" y="616297"/>
            <a:ext cx="2369865" cy="2369865"/>
          </a:xfrm>
          <a:prstGeom prst="rect">
            <a:avLst/>
          </a:prstGeom>
        </p:spPr>
      </p:pic>
      <p:sp>
        <p:nvSpPr>
          <p:cNvPr id="4" name="Text 1"/>
          <p:cNvSpPr/>
          <p:nvPr/>
        </p:nvSpPr>
        <p:spPr>
          <a:xfrm>
            <a:off x="2126531" y="3020988"/>
            <a:ext cx="2369865" cy="148679"/>
          </a:xfrm>
          <a:prstGeom prst="rect">
            <a:avLst/>
          </a:prstGeom>
          <a:noFill/>
          <a:ln/>
        </p:spPr>
        <p:txBody>
          <a:bodyPr wrap="square" lIns="0" tIns="0" rIns="0" bIns="0" rtlCol="0" anchor="t">
            <a:normAutofit/>
          </a:bodyPr>
          <a:lstStyle/>
          <a:p>
            <a:pPr algn="l" indent="0" marL="0">
              <a:lnSpc>
                <a:spcPct val="100000"/>
              </a:lnSpc>
              <a:buNone/>
            </a:pPr>
            <a:r>
              <a:rPr lang="en-US" sz="450" b="1" dirty="0">
                <a:solidFill>
                  <a:srgbClr val="4A4A45"/>
                </a:solidFill>
                <a:latin typeface="Lato" pitchFamily="34" charset="0"/>
                <a:ea typeface="Lato" pitchFamily="34" charset="-122"/>
                <a:cs typeface="Lato" pitchFamily="34" charset="-120"/>
              </a:rPr>
              <a:t>Industry Growth:</a:t>
            </a:r>
            <a:pPr algn="l" indent="0" marL="0">
              <a:lnSpc>
                <a:spcPct val="100000"/>
              </a:lnSpc>
              <a:buNone/>
            </a:pPr>
            <a:r>
              <a:rPr lang="en-US" sz="450" dirty="0">
                <a:solidFill>
                  <a:srgbClr val="4A4A45"/>
                </a:solidFill>
                <a:latin typeface="Lato" pitchFamily="34" charset="0"/>
                <a:ea typeface="Lato" pitchFamily="34" charset="-122"/>
                <a:cs typeface="Lato" pitchFamily="34" charset="-120"/>
              </a:rPr>
              <a:t> Industry assets increased steadily across the analysis period, reflecting rising mutual fund adoption.</a:t>
            </a:r>
            <a:endParaRPr lang="en-US" sz="450" dirty="0"/>
          </a:p>
        </p:txBody>
      </p:sp>
      <p:pic>
        <p:nvPicPr>
          <p:cNvPr id="5" name="Image 1" descr="preencoded.png">    </p:cNvPr>
          <p:cNvPicPr>
            <a:picLocks noChangeAspect="1"/>
          </p:cNvPicPr>
          <p:nvPr/>
        </p:nvPicPr>
        <p:blipFill>
          <a:blip r:embed="rId2"/>
          <a:stretch>
            <a:fillRect/>
          </a:stretch>
        </p:blipFill>
        <p:spPr>
          <a:xfrm>
            <a:off x="2126531" y="3204493"/>
            <a:ext cx="2369865" cy="2369865"/>
          </a:xfrm>
          <a:prstGeom prst="rect">
            <a:avLst/>
          </a:prstGeom>
        </p:spPr>
      </p:pic>
      <p:sp>
        <p:nvSpPr>
          <p:cNvPr id="6" name="Text 2"/>
          <p:cNvSpPr/>
          <p:nvPr/>
        </p:nvSpPr>
        <p:spPr>
          <a:xfrm>
            <a:off x="2126531" y="5609183"/>
            <a:ext cx="2369865" cy="148679"/>
          </a:xfrm>
          <a:prstGeom prst="rect">
            <a:avLst/>
          </a:prstGeom>
          <a:noFill/>
          <a:ln/>
        </p:spPr>
        <p:txBody>
          <a:bodyPr wrap="square" lIns="0" tIns="0" rIns="0" bIns="0" rtlCol="0" anchor="t">
            <a:normAutofit/>
          </a:bodyPr>
          <a:lstStyle/>
          <a:p>
            <a:pPr algn="l" indent="0" marL="0">
              <a:lnSpc>
                <a:spcPct val="100000"/>
              </a:lnSpc>
              <a:buNone/>
            </a:pPr>
            <a:r>
              <a:rPr lang="en-US" sz="450" b="1" dirty="0">
                <a:solidFill>
                  <a:srgbClr val="4A4A45"/>
                </a:solidFill>
                <a:latin typeface="Lato" pitchFamily="34" charset="0"/>
                <a:ea typeface="Lato" pitchFamily="34" charset="-122"/>
                <a:cs typeface="Lato" pitchFamily="34" charset="-120"/>
              </a:rPr>
              <a:t>SIP Analysis:</a:t>
            </a:r>
            <a:pPr algn="l" indent="0" marL="0">
              <a:lnSpc>
                <a:spcPct val="100000"/>
              </a:lnSpc>
              <a:buNone/>
            </a:pPr>
            <a:r>
              <a:rPr lang="en-US" sz="450" dirty="0">
                <a:solidFill>
                  <a:srgbClr val="4A4A45"/>
                </a:solidFill>
                <a:latin typeface="Lato" pitchFamily="34" charset="0"/>
                <a:ea typeface="Lato" pitchFamily="34" charset="-122"/>
                <a:cs typeface="Lato" pitchFamily="34" charset="-120"/>
              </a:rPr>
              <a:t> Monthly SIP contributions rose consistently — SIP inflows remained resilient despite market fluctuations.</a:t>
            </a:r>
            <a:endParaRPr lang="en-US" sz="450" dirty="0"/>
          </a:p>
        </p:txBody>
      </p:sp>
      <p:pic>
        <p:nvPicPr>
          <p:cNvPr id="7" name="Image 2" descr="preencoded.png">    </p:cNvPr>
          <p:cNvPicPr>
            <a:picLocks noChangeAspect="1"/>
          </p:cNvPicPr>
          <p:nvPr/>
        </p:nvPicPr>
        <p:blipFill>
          <a:blip r:embed="rId3"/>
          <a:stretch>
            <a:fillRect/>
          </a:stretch>
        </p:blipFill>
        <p:spPr>
          <a:xfrm>
            <a:off x="4652367" y="616297"/>
            <a:ext cx="2369865" cy="2369865"/>
          </a:xfrm>
          <a:prstGeom prst="rect">
            <a:avLst/>
          </a:prstGeom>
        </p:spPr>
      </p:pic>
      <p:sp>
        <p:nvSpPr>
          <p:cNvPr id="8" name="Text 3"/>
          <p:cNvSpPr/>
          <p:nvPr/>
        </p:nvSpPr>
        <p:spPr>
          <a:xfrm>
            <a:off x="4652367" y="3020988"/>
            <a:ext cx="2369865" cy="148679"/>
          </a:xfrm>
          <a:prstGeom prst="rect">
            <a:avLst/>
          </a:prstGeom>
          <a:noFill/>
          <a:ln/>
        </p:spPr>
        <p:txBody>
          <a:bodyPr wrap="square" lIns="0" tIns="0" rIns="0" bIns="0" rtlCol="0" anchor="t">
            <a:normAutofit/>
          </a:bodyPr>
          <a:lstStyle/>
          <a:p>
            <a:pPr algn="l" indent="0" marL="0">
              <a:lnSpc>
                <a:spcPct val="100000"/>
              </a:lnSpc>
              <a:buNone/>
            </a:pPr>
            <a:r>
              <a:rPr lang="en-US" sz="450" b="1" dirty="0">
                <a:solidFill>
                  <a:srgbClr val="4A4A45"/>
                </a:solidFill>
                <a:latin typeface="Lato" pitchFamily="34" charset="0"/>
                <a:ea typeface="Lato" pitchFamily="34" charset="-122"/>
                <a:cs typeface="Lato" pitchFamily="34" charset="-120"/>
              </a:rPr>
              <a:t>AMC Concentration:</a:t>
            </a:r>
            <a:pPr algn="l" indent="0" marL="0">
              <a:lnSpc>
                <a:spcPct val="100000"/>
              </a:lnSpc>
              <a:buNone/>
            </a:pPr>
            <a:r>
              <a:rPr lang="en-US" sz="450" dirty="0">
                <a:solidFill>
                  <a:srgbClr val="4A4A45"/>
                </a:solidFill>
                <a:latin typeface="Lato" pitchFamily="34" charset="0"/>
                <a:ea typeface="Lato" pitchFamily="34" charset="-122"/>
                <a:cs typeface="Lato" pitchFamily="34" charset="-120"/>
              </a:rPr>
              <a:t> A limited number of AMCs account for a significant share of total assets — concentration risk exists.</a:t>
            </a:r>
            <a:endParaRPr lang="en-US" sz="450" dirty="0"/>
          </a:p>
        </p:txBody>
      </p:sp>
      <p:pic>
        <p:nvPicPr>
          <p:cNvPr id="9" name="Image 3" descr="preencoded.png">    </p:cNvPr>
          <p:cNvPicPr>
            <a:picLocks noChangeAspect="1"/>
          </p:cNvPicPr>
          <p:nvPr/>
        </p:nvPicPr>
        <p:blipFill>
          <a:blip r:embed="rId4"/>
          <a:stretch>
            <a:fillRect/>
          </a:stretch>
        </p:blipFill>
        <p:spPr>
          <a:xfrm>
            <a:off x="4652367" y="3204493"/>
            <a:ext cx="2369865" cy="2369865"/>
          </a:xfrm>
          <a:prstGeom prst="rect">
            <a:avLst/>
          </a:prstGeom>
        </p:spPr>
      </p:pic>
      <p:sp>
        <p:nvSpPr>
          <p:cNvPr id="10" name="Text 4"/>
          <p:cNvSpPr/>
          <p:nvPr/>
        </p:nvSpPr>
        <p:spPr>
          <a:xfrm>
            <a:off x="4652367" y="5609183"/>
            <a:ext cx="2369865" cy="148679"/>
          </a:xfrm>
          <a:prstGeom prst="rect">
            <a:avLst/>
          </a:prstGeom>
          <a:noFill/>
          <a:ln/>
        </p:spPr>
        <p:txBody>
          <a:bodyPr wrap="square" lIns="0" tIns="0" rIns="0" bIns="0" rtlCol="0" anchor="t">
            <a:normAutofit/>
          </a:bodyPr>
          <a:lstStyle/>
          <a:p>
            <a:pPr algn="l" indent="0" marL="0">
              <a:lnSpc>
                <a:spcPct val="100000"/>
              </a:lnSpc>
              <a:buNone/>
            </a:pPr>
            <a:r>
              <a:rPr lang="en-US" sz="450" b="1" dirty="0">
                <a:solidFill>
                  <a:srgbClr val="4A4A45"/>
                </a:solidFill>
                <a:latin typeface="Lato" pitchFamily="34" charset="0"/>
                <a:ea typeface="Lato" pitchFamily="34" charset="-122"/>
                <a:cs typeface="Lato" pitchFamily="34" charset="-120"/>
              </a:rPr>
              <a:t>Risk Analysis:</a:t>
            </a:r>
            <a:pPr algn="l" indent="0" marL="0">
              <a:lnSpc>
                <a:spcPct val="100000"/>
              </a:lnSpc>
              <a:buNone/>
            </a:pPr>
            <a:r>
              <a:rPr lang="en-US" sz="450" dirty="0">
                <a:solidFill>
                  <a:srgbClr val="4A4A45"/>
                </a:solidFill>
                <a:latin typeface="Lato" pitchFamily="34" charset="0"/>
                <a:ea typeface="Lato" pitchFamily="34" charset="-122"/>
                <a:cs typeface="Lato" pitchFamily="34" charset="-120"/>
              </a:rPr>
              <a:t> Higher-return funds generally exhibit higher volatility; risk-return trade-offs vary widely by category.</a:t>
            </a:r>
            <a:endParaRPr lang="en-US" sz="450" dirty="0"/>
          </a:p>
        </p:txBody>
      </p:sp>
      <p:sp>
        <p:nvSpPr>
          <p:cNvPr id="11" name="Text 5"/>
          <p:cNvSpPr/>
          <p:nvPr/>
        </p:nvSpPr>
        <p:spPr>
          <a:xfrm>
            <a:off x="2126531" y="5820594"/>
            <a:ext cx="5348139" cy="74340"/>
          </a:xfrm>
          <a:prstGeom prst="rect">
            <a:avLst/>
          </a:prstGeom>
          <a:noFill/>
          <a:ln/>
        </p:spPr>
        <p:txBody>
          <a:bodyPr wrap="none" lIns="0" tIns="0" rIns="0" bIns="0" rtlCol="0" anchor="t"/>
          <a:lstStyle/>
          <a:p>
            <a:pPr algn="l" indent="0" marL="0">
              <a:lnSpc>
                <a:spcPct val="100000"/>
              </a:lnSpc>
              <a:buNone/>
            </a:pPr>
            <a:r>
              <a:rPr lang="en-US" sz="450" dirty="0">
                <a:solidFill>
                  <a:srgbClr val="4A4A45"/>
                </a:solidFill>
                <a:latin typeface="Lato" pitchFamily="34" charset="0"/>
                <a:ea typeface="Lato" pitchFamily="34" charset="-122"/>
                <a:cs typeface="Lato" pitchFamily="34" charset="-120"/>
              </a:rPr>
              <a:t> EDA combined time-series, distributional, and cross-sectional analyses to surface trends used in dashboard KPIs and visualisations.</a:t>
            </a:r>
            <a:endParaRPr lang="en-US" sz="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96119" y="762372"/>
            <a:ext cx="8090669" cy="387548"/>
          </a:xfrm>
          <a:prstGeom prst="rect">
            <a:avLst/>
          </a:prstGeom>
          <a:noFill/>
          <a:ln/>
        </p:spPr>
        <p:txBody>
          <a:bodyPr wrap="none" lIns="0" tIns="0" rIns="0" bIns="0" rtlCol="0" anchor="t"/>
          <a:lstStyle/>
          <a:p>
            <a:pPr algn="l" indent="0" marL="0">
              <a:lnSpc>
                <a:spcPct val="104000"/>
              </a:lnSpc>
              <a:buNone/>
            </a:pPr>
            <a:r>
              <a:rPr lang="en-US" sz="2400" b="1" dirty="0">
                <a:solidFill>
                  <a:srgbClr val="282824"/>
                </a:solidFill>
                <a:latin typeface="Lato Bold" pitchFamily="34" charset="0"/>
                <a:ea typeface="Lato Bold" pitchFamily="34" charset="-122"/>
                <a:cs typeface="Lato Bold" pitchFamily="34" charset="-120"/>
              </a:rPr>
              <a:t>Power BI Dashboard — Four Pages &amp; Design Philosophy</a:t>
            </a:r>
            <a:endParaRPr lang="en-US" sz="2400" dirty="0"/>
          </a:p>
        </p:txBody>
      </p:sp>
      <p:sp>
        <p:nvSpPr>
          <p:cNvPr id="3" name="Text 1"/>
          <p:cNvSpPr/>
          <p:nvPr/>
        </p:nvSpPr>
        <p:spPr>
          <a:xfrm>
            <a:off x="496119" y="1397943"/>
            <a:ext cx="8151763"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4A4A45"/>
                </a:solidFill>
                <a:latin typeface="Lato" pitchFamily="34" charset="0"/>
                <a:ea typeface="Lato" pitchFamily="34" charset="-122"/>
                <a:cs typeface="Lato" pitchFamily="34" charset="-120"/>
              </a:rPr>
              <a:t>     Design principles: Simplicity, Business Relevance, Actionable Insights. The dashboard contains four analytical pages that deliver executive-level KPIs and operational detail.   </a:t>
            </a:r>
            <a:endParaRPr lang="en-US" sz="950" dirty="0"/>
          </a:p>
        </p:txBody>
      </p:sp>
      <p:pic>
        <p:nvPicPr>
          <p:cNvPr id="4" name="Image 0" descr="preencoded.png">    </p:cNvPr>
          <p:cNvPicPr>
            <a:picLocks noChangeAspect="1"/>
          </p:cNvPicPr>
          <p:nvPr/>
        </p:nvPicPr>
        <p:blipFill>
          <a:blip r:embed="rId1"/>
          <a:stretch>
            <a:fillRect/>
          </a:stretch>
        </p:blipFill>
        <p:spPr>
          <a:xfrm>
            <a:off x="496119" y="1934394"/>
            <a:ext cx="557213" cy="344314"/>
          </a:xfrm>
          <a:prstGeom prst="rect">
            <a:avLst/>
          </a:prstGeom>
        </p:spPr>
      </p:pic>
      <p:sp>
        <p:nvSpPr>
          <p:cNvPr id="5" name="Text 2"/>
          <p:cNvSpPr/>
          <p:nvPr/>
        </p:nvSpPr>
        <p:spPr>
          <a:xfrm>
            <a:off x="1208336" y="1934394"/>
            <a:ext cx="1209452" cy="581546"/>
          </a:xfrm>
          <a:prstGeom prst="rect">
            <a:avLst/>
          </a:prstGeom>
          <a:noFill/>
          <a:ln/>
        </p:spPr>
        <p:txBody>
          <a:bodyPr wrap="square" lIns="0" tIns="0" rIns="0" bIns="0" rtlCol="0" anchor="t">
            <a:normAutofit/>
          </a:bodyPr>
          <a:lstStyle/>
          <a:p>
            <a:pPr algn="l" indent="0" marL="0">
              <a:lnSpc>
                <a:spcPct val="104000"/>
              </a:lnSpc>
              <a:buNone/>
            </a:pPr>
            <a:r>
              <a:rPr lang="en-US" sz="1200" b="1" dirty="0">
                <a:solidFill>
                  <a:srgbClr val="4A4A45"/>
                </a:solidFill>
                <a:latin typeface="Lato Bold" pitchFamily="34" charset="0"/>
                <a:ea typeface="Lato Bold" pitchFamily="34" charset="-122"/>
                <a:cs typeface="Lato Bold" pitchFamily="34" charset="-120"/>
              </a:rPr>
              <a:t>Page 1 — Industry Overview</a:t>
            </a:r>
            <a:endParaRPr lang="en-US" sz="1200" dirty="0"/>
          </a:p>
        </p:txBody>
      </p:sp>
      <p:sp>
        <p:nvSpPr>
          <p:cNvPr id="6" name="Text 3"/>
          <p:cNvSpPr/>
          <p:nvPr/>
        </p:nvSpPr>
        <p:spPr>
          <a:xfrm>
            <a:off x="1208336" y="2590354"/>
            <a:ext cx="1209452" cy="1587698"/>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4A4A45"/>
                </a:solidFill>
                <a:latin typeface="Lato" pitchFamily="34" charset="0"/>
                <a:ea typeface="Lato" pitchFamily="34" charset="-122"/>
                <a:cs typeface="Lato" pitchFamily="34" charset="-120"/>
              </a:rPr>
              <a:t>KPIs: Total AUM, SIP Inflows, Industry Folios, Active Schemes. Business value: Rapid assessment of market growth and participation.</a:t>
            </a:r>
            <a:endParaRPr lang="en-US" sz="950" dirty="0"/>
          </a:p>
        </p:txBody>
      </p:sp>
      <p:pic>
        <p:nvPicPr>
          <p:cNvPr id="7" name="Image 1" descr="preencoded.png">    </p:cNvPr>
          <p:cNvPicPr>
            <a:picLocks noChangeAspect="1"/>
          </p:cNvPicPr>
          <p:nvPr/>
        </p:nvPicPr>
        <p:blipFill>
          <a:blip r:embed="rId2"/>
          <a:stretch>
            <a:fillRect/>
          </a:stretch>
        </p:blipFill>
        <p:spPr>
          <a:xfrm>
            <a:off x="2572792" y="1934394"/>
            <a:ext cx="557213" cy="344314"/>
          </a:xfrm>
          <a:prstGeom prst="rect">
            <a:avLst/>
          </a:prstGeom>
        </p:spPr>
      </p:pic>
      <p:sp>
        <p:nvSpPr>
          <p:cNvPr id="8" name="Text 4"/>
          <p:cNvSpPr/>
          <p:nvPr/>
        </p:nvSpPr>
        <p:spPr>
          <a:xfrm>
            <a:off x="3285009" y="1934394"/>
            <a:ext cx="1209452" cy="387697"/>
          </a:xfrm>
          <a:prstGeom prst="rect">
            <a:avLst/>
          </a:prstGeom>
          <a:noFill/>
          <a:ln/>
        </p:spPr>
        <p:txBody>
          <a:bodyPr wrap="square" lIns="0" tIns="0" rIns="0" bIns="0" rtlCol="0" anchor="t">
            <a:normAutofit/>
          </a:bodyPr>
          <a:lstStyle/>
          <a:p>
            <a:pPr algn="l" indent="0" marL="0">
              <a:lnSpc>
                <a:spcPct val="104000"/>
              </a:lnSpc>
              <a:buNone/>
            </a:pPr>
            <a:r>
              <a:rPr lang="en-US" sz="1200" b="1" dirty="0">
                <a:solidFill>
                  <a:srgbClr val="4A4A45"/>
                </a:solidFill>
                <a:latin typeface="Lato Bold" pitchFamily="34" charset="0"/>
                <a:ea typeface="Lato Bold" pitchFamily="34" charset="-122"/>
                <a:cs typeface="Lato Bold" pitchFamily="34" charset="-120"/>
              </a:rPr>
              <a:t>Page 2 — Fund Performance</a:t>
            </a:r>
            <a:endParaRPr lang="en-US" sz="1200" dirty="0"/>
          </a:p>
        </p:txBody>
      </p:sp>
      <p:sp>
        <p:nvSpPr>
          <p:cNvPr id="9" name="Text 5"/>
          <p:cNvSpPr/>
          <p:nvPr/>
        </p:nvSpPr>
        <p:spPr>
          <a:xfrm>
            <a:off x="3285009" y="2396505"/>
            <a:ext cx="1209452" cy="1984623"/>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4A4A45"/>
                </a:solidFill>
                <a:latin typeface="Lato" pitchFamily="34" charset="0"/>
                <a:ea typeface="Lato" pitchFamily="34" charset="-122"/>
                <a:cs typeface="Lato" pitchFamily="34" charset="-120"/>
              </a:rPr>
              <a:t>Visuals: Risk vs Return scatter, fund scorecard, NAV trends, benchmark comparisons. Business value: Identify high-performing schemes and risk-adjusted leaders.</a:t>
            </a:r>
            <a:endParaRPr lang="en-US" sz="950" dirty="0"/>
          </a:p>
        </p:txBody>
      </p:sp>
      <p:pic>
        <p:nvPicPr>
          <p:cNvPr id="10" name="Image 2" descr="preencoded.png">    </p:cNvPr>
          <p:cNvPicPr>
            <a:picLocks noChangeAspect="1"/>
          </p:cNvPicPr>
          <p:nvPr/>
        </p:nvPicPr>
        <p:blipFill>
          <a:blip r:embed="rId3"/>
          <a:stretch>
            <a:fillRect/>
          </a:stretch>
        </p:blipFill>
        <p:spPr>
          <a:xfrm>
            <a:off x="4649465" y="1934394"/>
            <a:ext cx="557213" cy="344314"/>
          </a:xfrm>
          <a:prstGeom prst="rect">
            <a:avLst/>
          </a:prstGeom>
        </p:spPr>
      </p:pic>
      <p:sp>
        <p:nvSpPr>
          <p:cNvPr id="11" name="Text 6"/>
          <p:cNvSpPr/>
          <p:nvPr/>
        </p:nvSpPr>
        <p:spPr>
          <a:xfrm>
            <a:off x="5361682" y="1934394"/>
            <a:ext cx="1209452" cy="581546"/>
          </a:xfrm>
          <a:prstGeom prst="rect">
            <a:avLst/>
          </a:prstGeom>
          <a:noFill/>
          <a:ln/>
        </p:spPr>
        <p:txBody>
          <a:bodyPr wrap="square" lIns="0" tIns="0" rIns="0" bIns="0" rtlCol="0" anchor="t">
            <a:normAutofit/>
          </a:bodyPr>
          <a:lstStyle/>
          <a:p>
            <a:pPr algn="l" indent="0" marL="0">
              <a:lnSpc>
                <a:spcPct val="104000"/>
              </a:lnSpc>
              <a:buNone/>
            </a:pPr>
            <a:r>
              <a:rPr lang="en-US" sz="1200" b="1" dirty="0">
                <a:solidFill>
                  <a:srgbClr val="4A4A45"/>
                </a:solidFill>
                <a:latin typeface="Lato Bold" pitchFamily="34" charset="0"/>
                <a:ea typeface="Lato Bold" pitchFamily="34" charset="-122"/>
                <a:cs typeface="Lato Bold" pitchFamily="34" charset="-120"/>
              </a:rPr>
              <a:t>Page 3 — Investor Analytics</a:t>
            </a:r>
            <a:endParaRPr lang="en-US" sz="1200" dirty="0"/>
          </a:p>
        </p:txBody>
      </p:sp>
      <p:sp>
        <p:nvSpPr>
          <p:cNvPr id="12" name="Text 7"/>
          <p:cNvSpPr/>
          <p:nvPr/>
        </p:nvSpPr>
        <p:spPr>
          <a:xfrm>
            <a:off x="5361682" y="2590354"/>
            <a:ext cx="1209452" cy="1786161"/>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4A4A45"/>
                </a:solidFill>
                <a:latin typeface="Lato" pitchFamily="34" charset="0"/>
                <a:ea typeface="Lato" pitchFamily="34" charset="-122"/>
                <a:cs typeface="Lato" pitchFamily="34" charset="-120"/>
              </a:rPr>
              <a:t>Visuals: State-wise transactions, SIP vs lumpsum split, age distribution, monthly trends. Business value: Understand investor demographics and preferences.</a:t>
            </a:r>
            <a:endParaRPr lang="en-US" sz="950" dirty="0"/>
          </a:p>
        </p:txBody>
      </p:sp>
      <p:pic>
        <p:nvPicPr>
          <p:cNvPr id="13" name="Image 3" descr="preencoded.png">    </p:cNvPr>
          <p:cNvPicPr>
            <a:picLocks noChangeAspect="1"/>
          </p:cNvPicPr>
          <p:nvPr/>
        </p:nvPicPr>
        <p:blipFill>
          <a:blip r:embed="rId4"/>
          <a:stretch>
            <a:fillRect/>
          </a:stretch>
        </p:blipFill>
        <p:spPr>
          <a:xfrm>
            <a:off x="6726138" y="1934394"/>
            <a:ext cx="557287" cy="344388"/>
          </a:xfrm>
          <a:prstGeom prst="rect">
            <a:avLst/>
          </a:prstGeom>
        </p:spPr>
      </p:pic>
      <p:sp>
        <p:nvSpPr>
          <p:cNvPr id="14" name="Text 8"/>
          <p:cNvSpPr/>
          <p:nvPr/>
        </p:nvSpPr>
        <p:spPr>
          <a:xfrm>
            <a:off x="7438430" y="1934394"/>
            <a:ext cx="1209452" cy="387697"/>
          </a:xfrm>
          <a:prstGeom prst="rect">
            <a:avLst/>
          </a:prstGeom>
          <a:noFill/>
          <a:ln/>
        </p:spPr>
        <p:txBody>
          <a:bodyPr wrap="square" lIns="0" tIns="0" rIns="0" bIns="0" rtlCol="0" anchor="t">
            <a:normAutofit/>
          </a:bodyPr>
          <a:lstStyle/>
          <a:p>
            <a:pPr algn="l" indent="0" marL="0">
              <a:lnSpc>
                <a:spcPct val="104000"/>
              </a:lnSpc>
              <a:buNone/>
            </a:pPr>
            <a:r>
              <a:rPr lang="en-US" sz="1200" b="1" dirty="0">
                <a:solidFill>
                  <a:srgbClr val="4A4A45"/>
                </a:solidFill>
                <a:latin typeface="Lato Bold" pitchFamily="34" charset="0"/>
                <a:ea typeface="Lato Bold" pitchFamily="34" charset="-122"/>
                <a:cs typeface="Lato Bold" pitchFamily="34" charset="-120"/>
              </a:rPr>
              <a:t>Page 4 — SIP &amp; Market Trends</a:t>
            </a:r>
            <a:endParaRPr lang="en-US" sz="1200" dirty="0"/>
          </a:p>
        </p:txBody>
      </p:sp>
      <p:sp>
        <p:nvSpPr>
          <p:cNvPr id="15" name="Text 9"/>
          <p:cNvSpPr/>
          <p:nvPr/>
        </p:nvSpPr>
        <p:spPr>
          <a:xfrm>
            <a:off x="7438430" y="2396505"/>
            <a:ext cx="1209452" cy="1984623"/>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4A4A45"/>
                </a:solidFill>
                <a:latin typeface="Lato" pitchFamily="34" charset="0"/>
                <a:ea typeface="Lato" pitchFamily="34" charset="-122"/>
                <a:cs typeface="Lato" pitchFamily="34" charset="-120"/>
              </a:rPr>
              <a:t>Visuals: SIP vs Nifty trends, category inflow heatmap, top categories by net inflow, SIP growth KPIs. Business value: Correlate investor flows with market performance and category rotations.</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96119" y="483840"/>
            <a:ext cx="6843415" cy="387548"/>
          </a:xfrm>
          <a:prstGeom prst="rect">
            <a:avLst/>
          </a:prstGeom>
          <a:noFill/>
          <a:ln/>
        </p:spPr>
        <p:txBody>
          <a:bodyPr wrap="none" lIns="0" tIns="0" rIns="0" bIns="0" rtlCol="0" anchor="t"/>
          <a:lstStyle/>
          <a:p>
            <a:pPr algn="l" indent="0" marL="0">
              <a:lnSpc>
                <a:spcPct val="104000"/>
              </a:lnSpc>
              <a:buNone/>
            </a:pPr>
            <a:r>
              <a:rPr lang="en-US" sz="2400" b="1" dirty="0">
                <a:solidFill>
                  <a:srgbClr val="282824"/>
                </a:solidFill>
                <a:latin typeface="Lato Bold" pitchFamily="34" charset="0"/>
                <a:ea typeface="Lato Bold" pitchFamily="34" charset="-122"/>
                <a:cs typeface="Lato Bold" pitchFamily="34" charset="-120"/>
              </a:rPr>
              <a:t>Key Findings, Limitations &amp; Recommendations</a:t>
            </a:r>
            <a:endParaRPr lang="en-US" sz="24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81831" y="1119411"/>
            <a:ext cx="2648843" cy="3540175"/>
          </a:xfrm>
          <a:prstGeom prst="rect">
            <a:avLst/>
          </a:prstGeom>
        </p:spPr>
      </p:pic>
      <p:sp>
        <p:nvSpPr>
          <p:cNvPr id="4" name="Text 1"/>
          <p:cNvSpPr/>
          <p:nvPr/>
        </p:nvSpPr>
        <p:spPr>
          <a:xfrm>
            <a:off x="677242" y="1257672"/>
            <a:ext cx="1550566" cy="193849"/>
          </a:xfrm>
          <a:prstGeom prst="rect">
            <a:avLst/>
          </a:prstGeom>
          <a:noFill/>
          <a:ln/>
        </p:spPr>
        <p:txBody>
          <a:bodyPr wrap="none" lIns="0" tIns="0" rIns="0" bIns="0" rtlCol="0" anchor="t"/>
          <a:lstStyle/>
          <a:p>
            <a:pPr algn="l" indent="0" marL="0">
              <a:lnSpc>
                <a:spcPct val="104000"/>
              </a:lnSpc>
              <a:buNone/>
            </a:pPr>
            <a:r>
              <a:rPr lang="en-US" sz="1200" b="1" dirty="0">
                <a:solidFill>
                  <a:srgbClr val="4A4A45"/>
                </a:solidFill>
                <a:latin typeface="Lato Bold" pitchFamily="34" charset="0"/>
                <a:ea typeface="Lato Bold" pitchFamily="34" charset="-122"/>
                <a:cs typeface="Lato Bold" pitchFamily="34" charset="-120"/>
              </a:rPr>
              <a:t>Key Findings</a:t>
            </a:r>
            <a:endParaRPr lang="en-US" sz="1200" dirty="0"/>
          </a:p>
        </p:txBody>
      </p:sp>
      <p:sp>
        <p:nvSpPr>
          <p:cNvPr id="5" name="Text 2"/>
          <p:cNvSpPr/>
          <p:nvPr/>
        </p:nvSpPr>
        <p:spPr>
          <a:xfrm>
            <a:off x="677242" y="1525935"/>
            <a:ext cx="2315170" cy="2995389"/>
          </a:xfrm>
          <a:prstGeom prst="rect">
            <a:avLst/>
          </a:prstGeom>
          <a:noFill/>
          <a:ln/>
        </p:spPr>
        <p:txBody>
          <a:bodyPr wrap="square" lIns="0" tIns="0" rIns="0" bIns="0" rtlCol="0" anchor="t">
            <a:normAutofit/>
          </a:bodyPr>
          <a:lstStyle/>
          <a:p>
            <a:pPr algn="l" marL="342900" indent="-342900">
              <a:lnSpc>
                <a:spcPct val="133000"/>
              </a:lnSpc>
              <a:buSzPct val="100000"/>
              <a:buChar char="•"/>
            </a:pPr>
            <a:r>
              <a:rPr lang="en-US" sz="950" dirty="0">
                <a:solidFill>
                  <a:srgbClr val="4A4A45"/>
                </a:solidFill>
                <a:latin typeface="Lato" pitchFamily="34" charset="0"/>
                <a:ea typeface="Lato" pitchFamily="34" charset="-122"/>
                <a:cs typeface="Lato" pitchFamily="34" charset="-120"/>
              </a:rPr>
              <a:t>Consistent industry AUM growth and rising mutual fund penetration.</a:t>
            </a:r>
            <a:endParaRPr lang="en-US" sz="950" dirty="0"/>
          </a:p>
          <a:p>
            <a:pPr algn="l" marL="342900" indent="-342900">
              <a:lnSpc>
                <a:spcPct val="133000"/>
              </a:lnSpc>
              <a:buSzPct val="100000"/>
              <a:buChar char="•"/>
            </a:pPr>
            <a:r>
              <a:rPr lang="en-US" sz="950" dirty="0">
                <a:solidFill>
                  <a:srgbClr val="4A4A45"/>
                </a:solidFill>
                <a:latin typeface="Lato" pitchFamily="34" charset="0"/>
                <a:ea typeface="Lato" pitchFamily="34" charset="-122"/>
                <a:cs typeface="Lato" pitchFamily="34" charset="-120"/>
              </a:rPr>
              <a:t>SIP participation continues to increase year‑on‑year and shows resilience.</a:t>
            </a:r>
            <a:endParaRPr lang="en-US" sz="950" dirty="0"/>
          </a:p>
          <a:p>
            <a:pPr algn="l" marL="342900" indent="-342900">
              <a:lnSpc>
                <a:spcPct val="133000"/>
              </a:lnSpc>
              <a:buSzPct val="100000"/>
              <a:buChar char="•"/>
            </a:pPr>
            <a:r>
              <a:rPr lang="en-US" sz="950" dirty="0">
                <a:solidFill>
                  <a:srgbClr val="4A4A45"/>
                </a:solidFill>
                <a:latin typeface="Lato" pitchFamily="34" charset="0"/>
                <a:ea typeface="Lato" pitchFamily="34" charset="-122"/>
                <a:cs typeface="Lato" pitchFamily="34" charset="-120"/>
              </a:rPr>
              <a:t>Large AMCs dominate aggregate AUM; concentration is notable.</a:t>
            </a:r>
            <a:endParaRPr lang="en-US" sz="950" dirty="0"/>
          </a:p>
          <a:p>
            <a:pPr algn="l" marL="342900" indent="-342900">
              <a:lnSpc>
                <a:spcPct val="133000"/>
              </a:lnSpc>
              <a:buSzPct val="100000"/>
              <a:buChar char="•"/>
            </a:pPr>
            <a:r>
              <a:rPr lang="en-US" sz="950" dirty="0">
                <a:solidFill>
                  <a:srgbClr val="4A4A45"/>
                </a:solidFill>
                <a:latin typeface="Lato" pitchFamily="34" charset="0"/>
                <a:ea typeface="Lato" pitchFamily="34" charset="-122"/>
                <a:cs typeface="Lato" pitchFamily="34" charset="-120"/>
              </a:rPr>
              <a:t>Higher returns typically coincide with higher volatility; Sharpe Ratio adds context.</a:t>
            </a:r>
            <a:endParaRPr lang="en-US" sz="950" dirty="0"/>
          </a:p>
          <a:p>
            <a:pPr algn="l" marL="342900" indent="-342900">
              <a:lnSpc>
                <a:spcPct val="133000"/>
              </a:lnSpc>
              <a:buSzPct val="100000"/>
              <a:buChar char="•"/>
            </a:pPr>
            <a:r>
              <a:rPr lang="en-US" sz="950" dirty="0">
                <a:solidFill>
                  <a:srgbClr val="4A4A45"/>
                </a:solidFill>
                <a:latin typeface="Lato" pitchFamily="34" charset="0"/>
                <a:ea typeface="Lato" pitchFamily="34" charset="-122"/>
                <a:cs typeface="Lato" pitchFamily="34" charset="-120"/>
              </a:rPr>
              <a:t>Investors aged 26–35 contribute substantially to SIP flows.</a:t>
            </a:r>
            <a:endParaRPr lang="en-US" sz="950" dirty="0"/>
          </a:p>
          <a:p>
            <a:pPr algn="l" marL="342900" indent="-342900">
              <a:lnSpc>
                <a:spcPct val="133000"/>
              </a:lnSpc>
              <a:buSzPct val="100000"/>
              <a:buChar char="•"/>
            </a:pPr>
            <a:r>
              <a:rPr lang="en-US" sz="950" dirty="0">
                <a:solidFill>
                  <a:srgbClr val="4A4A45"/>
                </a:solidFill>
                <a:latin typeface="Lato" pitchFamily="34" charset="0"/>
                <a:ea typeface="Lato" pitchFamily="34" charset="-122"/>
                <a:cs typeface="Lato" pitchFamily="34" charset="-120"/>
              </a:rPr>
              <a:t>Certain categories capture most net inflows; market conditions influence investor participation.</a:t>
            </a:r>
            <a:endParaRPr lang="en-US" sz="95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40360" y="1119411"/>
            <a:ext cx="2648917" cy="3540175"/>
          </a:xfrm>
          <a:prstGeom prst="rect">
            <a:avLst/>
          </a:prstGeom>
        </p:spPr>
      </p:pic>
      <p:sp>
        <p:nvSpPr>
          <p:cNvPr id="7" name="Text 3"/>
          <p:cNvSpPr/>
          <p:nvPr/>
        </p:nvSpPr>
        <p:spPr>
          <a:xfrm>
            <a:off x="3435772" y="1257672"/>
            <a:ext cx="1550566" cy="193849"/>
          </a:xfrm>
          <a:prstGeom prst="rect">
            <a:avLst/>
          </a:prstGeom>
          <a:noFill/>
          <a:ln/>
        </p:spPr>
        <p:txBody>
          <a:bodyPr wrap="none" lIns="0" tIns="0" rIns="0" bIns="0" rtlCol="0" anchor="t"/>
          <a:lstStyle/>
          <a:p>
            <a:pPr algn="l" indent="0" marL="0">
              <a:lnSpc>
                <a:spcPct val="104000"/>
              </a:lnSpc>
              <a:buNone/>
            </a:pPr>
            <a:r>
              <a:rPr lang="en-US" sz="1200" b="1" dirty="0">
                <a:solidFill>
                  <a:srgbClr val="4A4A45"/>
                </a:solidFill>
                <a:latin typeface="Lato Bold" pitchFamily="34" charset="0"/>
                <a:ea typeface="Lato Bold" pitchFamily="34" charset="-122"/>
                <a:cs typeface="Lato Bold" pitchFamily="34" charset="-120"/>
              </a:rPr>
              <a:t>Limitations</a:t>
            </a:r>
            <a:endParaRPr lang="en-US" sz="1200" dirty="0"/>
          </a:p>
        </p:txBody>
      </p:sp>
      <p:sp>
        <p:nvSpPr>
          <p:cNvPr id="8" name="Text 4"/>
          <p:cNvSpPr/>
          <p:nvPr/>
        </p:nvSpPr>
        <p:spPr>
          <a:xfrm>
            <a:off x="3435772" y="1525935"/>
            <a:ext cx="2315245" cy="992312"/>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4A4A45"/>
                </a:solidFill>
                <a:latin typeface="Lato" pitchFamily="34" charset="0"/>
                <a:ea typeface="Lato" pitchFamily="34" charset="-122"/>
                <a:cs typeface="Lato" pitchFamily="34" charset="-120"/>
              </a:rPr>
              <a:t>         Dataset is a limited industry sample; real‑time NAV feeds were not integrated; many analyses rely on historical data; forecasting and advanced modelling were outside scope.       </a:t>
            </a:r>
            <a:endParaRPr lang="en-US" sz="95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998964" y="1119411"/>
            <a:ext cx="2648843" cy="3540175"/>
          </a:xfrm>
          <a:prstGeom prst="rect">
            <a:avLst/>
          </a:prstGeom>
        </p:spPr>
      </p:pic>
      <p:sp>
        <p:nvSpPr>
          <p:cNvPr id="10" name="Text 5"/>
          <p:cNvSpPr/>
          <p:nvPr/>
        </p:nvSpPr>
        <p:spPr>
          <a:xfrm>
            <a:off x="6194375" y="1257672"/>
            <a:ext cx="1550566" cy="193849"/>
          </a:xfrm>
          <a:prstGeom prst="rect">
            <a:avLst/>
          </a:prstGeom>
          <a:noFill/>
          <a:ln/>
        </p:spPr>
        <p:txBody>
          <a:bodyPr wrap="none" lIns="0" tIns="0" rIns="0" bIns="0" rtlCol="0" anchor="t"/>
          <a:lstStyle/>
          <a:p>
            <a:pPr algn="l" indent="0" marL="0">
              <a:lnSpc>
                <a:spcPct val="104000"/>
              </a:lnSpc>
              <a:buNone/>
            </a:pPr>
            <a:r>
              <a:rPr lang="en-US" sz="1200" b="1" dirty="0">
                <a:solidFill>
                  <a:srgbClr val="4A4A45"/>
                </a:solidFill>
                <a:latin typeface="Lato Bold" pitchFamily="34" charset="0"/>
                <a:ea typeface="Lato Bold" pitchFamily="34" charset="-122"/>
                <a:cs typeface="Lato Bold" pitchFamily="34" charset="-120"/>
              </a:rPr>
              <a:t>Recommendations</a:t>
            </a:r>
            <a:endParaRPr lang="en-US" sz="1200" dirty="0"/>
          </a:p>
        </p:txBody>
      </p:sp>
      <p:sp>
        <p:nvSpPr>
          <p:cNvPr id="11" name="Text 6"/>
          <p:cNvSpPr/>
          <p:nvPr/>
        </p:nvSpPr>
        <p:spPr>
          <a:xfrm>
            <a:off x="6194375" y="1525935"/>
            <a:ext cx="2315170" cy="2356619"/>
          </a:xfrm>
          <a:prstGeom prst="rect">
            <a:avLst/>
          </a:prstGeom>
          <a:noFill/>
          <a:ln/>
        </p:spPr>
        <p:txBody>
          <a:bodyPr wrap="square" lIns="0" tIns="0" rIns="0" bIns="0" rtlCol="0" anchor="t">
            <a:normAutofit/>
          </a:bodyPr>
          <a:lstStyle/>
          <a:p>
            <a:pPr algn="l" marL="342900" indent="-342900">
              <a:lnSpc>
                <a:spcPct val="133000"/>
              </a:lnSpc>
              <a:buSzPct val="100000"/>
              <a:buFont typeface="+mj-lt"/>
              <a:buAutoNum type="arabicPeriod" startAt="1"/>
            </a:pPr>
            <a:r>
              <a:rPr lang="en-US" sz="950" dirty="0">
                <a:solidFill>
                  <a:srgbClr val="4A4A45"/>
                </a:solidFill>
                <a:latin typeface="Lato" pitchFamily="34" charset="0"/>
                <a:ea typeface="Lato" pitchFamily="34" charset="-122"/>
                <a:cs typeface="Lato" pitchFamily="34" charset="-120"/>
              </a:rPr>
              <a:t>Integrate live NAV APIs for real‑time monitoring.</a:t>
            </a:r>
            <a:endParaRPr lang="en-US" sz="950" dirty="0"/>
          </a:p>
          <a:p>
            <a:pPr algn="l" marL="342900" indent="-342900">
              <a:lnSpc>
                <a:spcPct val="133000"/>
              </a:lnSpc>
              <a:buSzPct val="100000"/>
              <a:buFont typeface="+mj-lt"/>
              <a:buAutoNum type="arabicPeriod" startAt="2"/>
            </a:pPr>
            <a:r>
              <a:rPr lang="en-US" sz="950" dirty="0">
                <a:solidFill>
                  <a:srgbClr val="4A4A45"/>
                </a:solidFill>
                <a:latin typeface="Lato" pitchFamily="34" charset="0"/>
                <a:ea typeface="Lato" pitchFamily="34" charset="-122"/>
                <a:cs typeface="Lato" pitchFamily="34" charset="-120"/>
              </a:rPr>
              <a:t>Develop automated ETL pipelines for repeatability.</a:t>
            </a:r>
            <a:endParaRPr lang="en-US" sz="950" dirty="0"/>
          </a:p>
          <a:p>
            <a:pPr algn="l" marL="342900" indent="-342900">
              <a:lnSpc>
                <a:spcPct val="133000"/>
              </a:lnSpc>
              <a:buSzPct val="100000"/>
              <a:buFont typeface="+mj-lt"/>
              <a:buAutoNum type="arabicPeriod" startAt="3"/>
            </a:pPr>
            <a:r>
              <a:rPr lang="en-US" sz="950" dirty="0">
                <a:solidFill>
                  <a:srgbClr val="4A4A45"/>
                </a:solidFill>
                <a:latin typeface="Lato" pitchFamily="34" charset="0"/>
                <a:ea typeface="Lato" pitchFamily="34" charset="-122"/>
                <a:cs typeface="Lato" pitchFamily="34" charset="-120"/>
              </a:rPr>
              <a:t>Build a recommendation engine to personalise investor advice.</a:t>
            </a:r>
            <a:endParaRPr lang="en-US" sz="950" dirty="0"/>
          </a:p>
          <a:p>
            <a:pPr algn="l" marL="342900" indent="-342900">
              <a:lnSpc>
                <a:spcPct val="133000"/>
              </a:lnSpc>
              <a:buSzPct val="100000"/>
              <a:buFont typeface="+mj-lt"/>
              <a:buAutoNum type="arabicPeriod" startAt="4"/>
            </a:pPr>
            <a:r>
              <a:rPr lang="en-US" sz="950" dirty="0">
                <a:solidFill>
                  <a:srgbClr val="4A4A45"/>
                </a:solidFill>
                <a:latin typeface="Lato" pitchFamily="34" charset="0"/>
                <a:ea typeface="Lato" pitchFamily="34" charset="-122"/>
                <a:cs typeface="Lato" pitchFamily="34" charset="-120"/>
              </a:rPr>
              <a:t>Implement predictive analytics for SIP forecasting and category rotation.</a:t>
            </a:r>
            <a:endParaRPr lang="en-US" sz="950" dirty="0"/>
          </a:p>
          <a:p>
            <a:pPr algn="l" marL="342900" indent="-342900">
              <a:lnSpc>
                <a:spcPct val="133000"/>
              </a:lnSpc>
              <a:buSzPct val="100000"/>
              <a:buFont typeface="+mj-lt"/>
              <a:buAutoNum type="arabicPeriod" startAt="5"/>
            </a:pPr>
            <a:r>
              <a:rPr lang="en-US" sz="950" dirty="0">
                <a:solidFill>
                  <a:srgbClr val="4A4A45"/>
                </a:solidFill>
                <a:latin typeface="Lato" pitchFamily="34" charset="0"/>
                <a:ea typeface="Lato" pitchFamily="34" charset="-122"/>
                <a:cs typeface="Lato" pitchFamily="34" charset="-120"/>
              </a:rPr>
              <a:t>Automate dashboard refresh and performance tuning for responsiveness.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96119" y="363513"/>
            <a:ext cx="7241828" cy="351309"/>
          </a:xfrm>
          <a:prstGeom prst="rect">
            <a:avLst/>
          </a:prstGeom>
          <a:noFill/>
          <a:ln/>
        </p:spPr>
        <p:txBody>
          <a:bodyPr wrap="none" lIns="0" tIns="0" rIns="0" bIns="0" rtlCol="0" anchor="t"/>
          <a:lstStyle/>
          <a:p>
            <a:pPr algn="l" indent="0" marL="0">
              <a:lnSpc>
                <a:spcPct val="104000"/>
              </a:lnSpc>
              <a:buNone/>
            </a:pPr>
            <a:r>
              <a:rPr lang="en-US" sz="2200" b="1" dirty="0">
                <a:solidFill>
                  <a:srgbClr val="282824"/>
                </a:solidFill>
                <a:latin typeface="Lato Bold" pitchFamily="34" charset="0"/>
                <a:ea typeface="Lato Bold" pitchFamily="34" charset="-122"/>
                <a:cs typeface="Lato Bold" pitchFamily="34" charset="-120"/>
              </a:rPr>
              <a:t>Challenges, Learnings &amp; Business Impact — Conclusion</a:t>
            </a:r>
            <a:endParaRPr lang="en-US" sz="2200" dirty="0"/>
          </a:p>
        </p:txBody>
      </p:sp>
      <p:sp>
        <p:nvSpPr>
          <p:cNvPr id="3" name="Shape 1"/>
          <p:cNvSpPr/>
          <p:nvPr/>
        </p:nvSpPr>
        <p:spPr>
          <a:xfrm>
            <a:off x="496119" y="918567"/>
            <a:ext cx="4024908" cy="337245"/>
          </a:xfrm>
          <a:prstGeom prst="roundRect">
            <a:avLst>
              <a:gd name="adj" fmla="val 480010"/>
            </a:avLst>
          </a:prstGeom>
          <a:solidFill>
            <a:srgbClr val="E5DFD2"/>
          </a:solidFill>
          <a:ln/>
        </p:spPr>
      </p:sp>
      <p:sp>
        <p:nvSpPr>
          <p:cNvPr id="4" name="Text 2"/>
          <p:cNvSpPr/>
          <p:nvPr/>
        </p:nvSpPr>
        <p:spPr>
          <a:xfrm>
            <a:off x="608484" y="1357685"/>
            <a:ext cx="1405161" cy="175617"/>
          </a:xfrm>
          <a:prstGeom prst="rect">
            <a:avLst/>
          </a:prstGeom>
          <a:noFill/>
          <a:ln/>
        </p:spPr>
        <p:txBody>
          <a:bodyPr wrap="none" lIns="0" tIns="0" rIns="0" bIns="0" rtlCol="0" anchor="t"/>
          <a:lstStyle/>
          <a:p>
            <a:pPr algn="l" indent="0" marL="0">
              <a:lnSpc>
                <a:spcPct val="104000"/>
              </a:lnSpc>
              <a:buNone/>
            </a:pPr>
            <a:r>
              <a:rPr lang="en-US" sz="1100" b="1" dirty="0">
                <a:solidFill>
                  <a:srgbClr val="4A4A45"/>
                </a:solidFill>
                <a:latin typeface="Lato Bold" pitchFamily="34" charset="0"/>
                <a:ea typeface="Lato Bold" pitchFamily="34" charset="-122"/>
                <a:cs typeface="Lato Bold" pitchFamily="34" charset="-120"/>
              </a:rPr>
              <a:t>Challenges</a:t>
            </a:r>
            <a:endParaRPr lang="en-US" sz="1100" dirty="0"/>
          </a:p>
        </p:txBody>
      </p:sp>
      <p:sp>
        <p:nvSpPr>
          <p:cNvPr id="5" name="Text 3"/>
          <p:cNvSpPr/>
          <p:nvPr/>
        </p:nvSpPr>
        <p:spPr>
          <a:xfrm>
            <a:off x="608484" y="1594396"/>
            <a:ext cx="3800177" cy="514350"/>
          </a:xfrm>
          <a:prstGeom prst="rect">
            <a:avLst/>
          </a:prstGeom>
          <a:noFill/>
          <a:ln/>
        </p:spPr>
        <p:txBody>
          <a:bodyPr wrap="square" lIns="0" tIns="0" rIns="0" bIns="0" rtlCol="0" anchor="t">
            <a:normAutofit/>
          </a:bodyPr>
          <a:lstStyle/>
          <a:p>
            <a:pPr algn="l" indent="0" marL="0">
              <a:lnSpc>
                <a:spcPct val="127000"/>
              </a:lnSpc>
              <a:buNone/>
            </a:pPr>
            <a:r>
              <a:rPr lang="en-US" sz="850" dirty="0">
                <a:solidFill>
                  <a:srgbClr val="4A4A45"/>
                </a:solidFill>
                <a:latin typeface="Lato" pitchFamily="34" charset="0"/>
                <a:ea typeface="Lato" pitchFamily="34" charset="-122"/>
                <a:cs typeface="Lato" pitchFamily="34" charset="-120"/>
              </a:rPr>
              <a:t>Data quality issues (missing values, duplicates, inconsistent formats), integration across datasets, dashboard design tradeoffs, and performance constraints with large visualisations.</a:t>
            </a:r>
            <a:endParaRPr lang="en-US" sz="850" dirty="0"/>
          </a:p>
        </p:txBody>
      </p:sp>
      <p:sp>
        <p:nvSpPr>
          <p:cNvPr id="6" name="Shape 4"/>
          <p:cNvSpPr/>
          <p:nvPr/>
        </p:nvSpPr>
        <p:spPr>
          <a:xfrm>
            <a:off x="4622899" y="918567"/>
            <a:ext cx="4024982" cy="337245"/>
          </a:xfrm>
          <a:prstGeom prst="roundRect">
            <a:avLst>
              <a:gd name="adj" fmla="val 480010"/>
            </a:avLst>
          </a:prstGeom>
          <a:solidFill>
            <a:srgbClr val="E5DFD2"/>
          </a:solidFill>
          <a:ln/>
        </p:spPr>
      </p:sp>
      <p:sp>
        <p:nvSpPr>
          <p:cNvPr id="7" name="Text 5"/>
          <p:cNvSpPr/>
          <p:nvPr/>
        </p:nvSpPr>
        <p:spPr>
          <a:xfrm>
            <a:off x="4735264" y="1357685"/>
            <a:ext cx="1405161" cy="175617"/>
          </a:xfrm>
          <a:prstGeom prst="rect">
            <a:avLst/>
          </a:prstGeom>
          <a:noFill/>
          <a:ln/>
        </p:spPr>
        <p:txBody>
          <a:bodyPr wrap="none" lIns="0" tIns="0" rIns="0" bIns="0" rtlCol="0" anchor="t"/>
          <a:lstStyle/>
          <a:p>
            <a:pPr algn="l" indent="0" marL="0">
              <a:lnSpc>
                <a:spcPct val="104000"/>
              </a:lnSpc>
              <a:buNone/>
            </a:pPr>
            <a:r>
              <a:rPr lang="en-US" sz="1100" b="1" dirty="0">
                <a:solidFill>
                  <a:srgbClr val="4A4A45"/>
                </a:solidFill>
                <a:latin typeface="Lato Bold" pitchFamily="34" charset="0"/>
                <a:ea typeface="Lato Bold" pitchFamily="34" charset="-122"/>
                <a:cs typeface="Lato Bold" pitchFamily="34" charset="-120"/>
              </a:rPr>
              <a:t>Learnings</a:t>
            </a:r>
            <a:endParaRPr lang="en-US" sz="1100" dirty="0"/>
          </a:p>
        </p:txBody>
      </p:sp>
      <p:sp>
        <p:nvSpPr>
          <p:cNvPr id="8" name="Text 6"/>
          <p:cNvSpPr/>
          <p:nvPr/>
        </p:nvSpPr>
        <p:spPr>
          <a:xfrm>
            <a:off x="4735264" y="1594396"/>
            <a:ext cx="3800252" cy="514350"/>
          </a:xfrm>
          <a:prstGeom prst="rect">
            <a:avLst/>
          </a:prstGeom>
          <a:noFill/>
          <a:ln/>
        </p:spPr>
        <p:txBody>
          <a:bodyPr wrap="square" lIns="0" tIns="0" rIns="0" bIns="0" rtlCol="0" anchor="t">
            <a:normAutofit/>
          </a:bodyPr>
          <a:lstStyle/>
          <a:p>
            <a:pPr algn="l" indent="0" marL="0">
              <a:lnSpc>
                <a:spcPct val="127000"/>
              </a:lnSpc>
              <a:buNone/>
            </a:pPr>
            <a:r>
              <a:rPr lang="en-US" sz="850" dirty="0">
                <a:solidFill>
                  <a:srgbClr val="4A4A45"/>
                </a:solidFill>
                <a:latin typeface="Lato" pitchFamily="34" charset="0"/>
                <a:ea typeface="Lato" pitchFamily="34" charset="-122"/>
                <a:cs typeface="Lato" pitchFamily="34" charset="-120"/>
              </a:rPr>
              <a:t>Practical experience in ETL design, data validation, SQLite schema implementation, SQL optimisation, EDA, risk‑return evaluation, and delivering business-focused Power BI dashboards.</a:t>
            </a:r>
            <a:endParaRPr lang="en-US" sz="850" dirty="0"/>
          </a:p>
        </p:txBody>
      </p:sp>
      <p:sp>
        <p:nvSpPr>
          <p:cNvPr id="9" name="Shape 7"/>
          <p:cNvSpPr/>
          <p:nvPr/>
        </p:nvSpPr>
        <p:spPr>
          <a:xfrm>
            <a:off x="496119" y="2322984"/>
            <a:ext cx="4024908" cy="337245"/>
          </a:xfrm>
          <a:prstGeom prst="roundRect">
            <a:avLst>
              <a:gd name="adj" fmla="val 480010"/>
            </a:avLst>
          </a:prstGeom>
          <a:solidFill>
            <a:srgbClr val="E5DFD2"/>
          </a:solidFill>
          <a:ln/>
        </p:spPr>
      </p:sp>
      <p:sp>
        <p:nvSpPr>
          <p:cNvPr id="10" name="Text 8"/>
          <p:cNvSpPr/>
          <p:nvPr/>
        </p:nvSpPr>
        <p:spPr>
          <a:xfrm>
            <a:off x="608484" y="2762101"/>
            <a:ext cx="1405161" cy="175617"/>
          </a:xfrm>
          <a:prstGeom prst="rect">
            <a:avLst/>
          </a:prstGeom>
          <a:noFill/>
          <a:ln/>
        </p:spPr>
        <p:txBody>
          <a:bodyPr wrap="none" lIns="0" tIns="0" rIns="0" bIns="0" rtlCol="0" anchor="t"/>
          <a:lstStyle/>
          <a:p>
            <a:pPr algn="l" indent="0" marL="0">
              <a:lnSpc>
                <a:spcPct val="104000"/>
              </a:lnSpc>
              <a:buNone/>
            </a:pPr>
            <a:r>
              <a:rPr lang="en-US" sz="1100" b="1" dirty="0">
                <a:solidFill>
                  <a:srgbClr val="4A4A45"/>
                </a:solidFill>
                <a:latin typeface="Lato Bold" pitchFamily="34" charset="0"/>
                <a:ea typeface="Lato Bold" pitchFamily="34" charset="-122"/>
                <a:cs typeface="Lato Bold" pitchFamily="34" charset="-120"/>
              </a:rPr>
              <a:t>Business Impact</a:t>
            </a:r>
            <a:endParaRPr lang="en-US" sz="1100" dirty="0"/>
          </a:p>
        </p:txBody>
      </p:sp>
      <p:sp>
        <p:nvSpPr>
          <p:cNvPr id="11" name="Text 9"/>
          <p:cNvSpPr/>
          <p:nvPr/>
        </p:nvSpPr>
        <p:spPr>
          <a:xfrm>
            <a:off x="608484" y="2998812"/>
            <a:ext cx="3800177" cy="857250"/>
          </a:xfrm>
          <a:prstGeom prst="rect">
            <a:avLst/>
          </a:prstGeom>
          <a:noFill/>
          <a:ln/>
        </p:spPr>
        <p:txBody>
          <a:bodyPr wrap="square" lIns="0" tIns="0" rIns="0" bIns="0" rtlCol="0" anchor="t">
            <a:normAutofit/>
          </a:bodyPr>
          <a:lstStyle/>
          <a:p>
            <a:pPr algn="l" indent="0" marL="0">
              <a:lnSpc>
                <a:spcPct val="127000"/>
              </a:lnSpc>
              <a:buNone/>
            </a:pPr>
            <a:r>
              <a:rPr lang="en-US" sz="850" dirty="0">
                <a:solidFill>
                  <a:srgbClr val="4A4A45"/>
                </a:solidFill>
                <a:latin typeface="Lato" pitchFamily="34" charset="0"/>
                <a:ea typeface="Lato" pitchFamily="34" charset="-122"/>
                <a:cs typeface="Lato" pitchFamily="34" charset="-120"/>
              </a:rPr>
              <a:t>         The solution centralizes analytics for AMCs, analysts, investors, and senior management — enabling monitoring of industry growth, comparison of risk‑adjusted returns, investor segmentation, and SIP trend analysis. The platform lays the foundation for predictive enhancements and real‑time reporting.       </a:t>
            </a:r>
            <a:endParaRPr lang="en-US" sz="850" dirty="0"/>
          </a:p>
        </p:txBody>
      </p:sp>
      <p:sp>
        <p:nvSpPr>
          <p:cNvPr id="12" name="Shape 10"/>
          <p:cNvSpPr/>
          <p:nvPr/>
        </p:nvSpPr>
        <p:spPr>
          <a:xfrm>
            <a:off x="4622899" y="2322984"/>
            <a:ext cx="4024982" cy="337245"/>
          </a:xfrm>
          <a:prstGeom prst="roundRect">
            <a:avLst>
              <a:gd name="adj" fmla="val 480010"/>
            </a:avLst>
          </a:prstGeom>
          <a:solidFill>
            <a:srgbClr val="E5DFD2"/>
          </a:solidFill>
          <a:ln/>
        </p:spPr>
      </p:sp>
      <p:sp>
        <p:nvSpPr>
          <p:cNvPr id="13" name="Text 11"/>
          <p:cNvSpPr/>
          <p:nvPr/>
        </p:nvSpPr>
        <p:spPr>
          <a:xfrm>
            <a:off x="4735264" y="2762101"/>
            <a:ext cx="1405161" cy="175617"/>
          </a:xfrm>
          <a:prstGeom prst="rect">
            <a:avLst/>
          </a:prstGeom>
          <a:noFill/>
          <a:ln/>
        </p:spPr>
        <p:txBody>
          <a:bodyPr wrap="none" lIns="0" tIns="0" rIns="0" bIns="0" rtlCol="0" anchor="t"/>
          <a:lstStyle/>
          <a:p>
            <a:pPr algn="l" indent="0" marL="0">
              <a:lnSpc>
                <a:spcPct val="104000"/>
              </a:lnSpc>
              <a:buNone/>
            </a:pPr>
            <a:r>
              <a:rPr lang="en-US" sz="1100" b="1" dirty="0">
                <a:solidFill>
                  <a:srgbClr val="4A4A45"/>
                </a:solidFill>
                <a:latin typeface="Lato Bold" pitchFamily="34" charset="0"/>
                <a:ea typeface="Lato Bold" pitchFamily="34" charset="-122"/>
                <a:cs typeface="Lato Bold" pitchFamily="34" charset="-120"/>
              </a:rPr>
              <a:t>Conclusion</a:t>
            </a:r>
            <a:endParaRPr lang="en-US" sz="1100" dirty="0"/>
          </a:p>
        </p:txBody>
      </p:sp>
      <p:sp>
        <p:nvSpPr>
          <p:cNvPr id="14" name="Text 12"/>
          <p:cNvSpPr/>
          <p:nvPr/>
        </p:nvSpPr>
        <p:spPr>
          <a:xfrm>
            <a:off x="4735264" y="2998812"/>
            <a:ext cx="3800252" cy="1028700"/>
          </a:xfrm>
          <a:prstGeom prst="rect">
            <a:avLst/>
          </a:prstGeom>
          <a:noFill/>
          <a:ln/>
        </p:spPr>
        <p:txBody>
          <a:bodyPr wrap="square" lIns="0" tIns="0" rIns="0" bIns="0" rtlCol="0" anchor="t">
            <a:normAutofit/>
          </a:bodyPr>
          <a:lstStyle/>
          <a:p>
            <a:pPr algn="l" indent="0" marL="0">
              <a:lnSpc>
                <a:spcPct val="127000"/>
              </a:lnSpc>
              <a:buNone/>
            </a:pPr>
            <a:r>
              <a:rPr lang="en-US" sz="850" dirty="0">
                <a:solidFill>
                  <a:srgbClr val="4A4A45"/>
                </a:solidFill>
                <a:latin typeface="Lato" pitchFamily="34" charset="0"/>
                <a:ea typeface="Lato" pitchFamily="34" charset="-122"/>
                <a:cs typeface="Lato" pitchFamily="34" charset="-120"/>
              </a:rPr>
              <a:t>         This capstone demonstrates an end‑to‑end analytics workflow—transforming raw mutual fund datasets into actionable insights using Python, SQLite, SQL, and Power BI. The interactive dashboard provides stakeholders with clarity on industry trends, fund performance, investor behaviour, and SIP market dynamics, forming a robust base for future predictive and recommendation capabilities.       </a:t>
            </a:r>
            <a:endParaRPr lang="en-US" sz="850" dirty="0"/>
          </a:p>
        </p:txBody>
      </p:sp>
      <p:sp>
        <p:nvSpPr>
          <p:cNvPr id="15" name="Shape 13"/>
          <p:cNvSpPr/>
          <p:nvPr/>
        </p:nvSpPr>
        <p:spPr>
          <a:xfrm>
            <a:off x="496119" y="4254475"/>
            <a:ext cx="8151763" cy="410914"/>
          </a:xfrm>
          <a:prstGeom prst="roundRect">
            <a:avLst>
              <a:gd name="adj" fmla="val 4104"/>
            </a:avLst>
          </a:prstGeom>
          <a:solidFill>
            <a:srgbClr val="B6FCB8"/>
          </a:solidFill>
          <a:ln/>
        </p:spPr>
      </p:sp>
      <p:pic>
        <p:nvPicPr>
          <p:cNvPr id="16" name="Image 0" descr="preencoded.png">    </p:cNvPr>
          <p:cNvPicPr>
            <a:picLocks noChangeAspect="1"/>
          </p:cNvPicPr>
          <p:nvPr/>
        </p:nvPicPr>
        <p:blipFill>
          <a:blip r:embed="rId1"/>
          <a:stretch>
            <a:fillRect/>
          </a:stretch>
        </p:blipFill>
        <p:spPr>
          <a:xfrm>
            <a:off x="608484" y="4410819"/>
            <a:ext cx="140494" cy="112365"/>
          </a:xfrm>
          <a:prstGeom prst="rect">
            <a:avLst/>
          </a:prstGeom>
        </p:spPr>
      </p:pic>
      <p:sp>
        <p:nvSpPr>
          <p:cNvPr id="17" name="Text 14"/>
          <p:cNvSpPr/>
          <p:nvPr/>
        </p:nvSpPr>
        <p:spPr>
          <a:xfrm>
            <a:off x="861343" y="4374207"/>
            <a:ext cx="8131373" cy="171450"/>
          </a:xfrm>
          <a:prstGeom prst="rect">
            <a:avLst/>
          </a:prstGeom>
          <a:noFill/>
          <a:ln/>
        </p:spPr>
        <p:txBody>
          <a:bodyPr wrap="none" lIns="0" tIns="0" rIns="0" bIns="0" rtlCol="0" anchor="t"/>
          <a:lstStyle/>
          <a:p>
            <a:pPr algn="l" indent="0" marL="0">
              <a:lnSpc>
                <a:spcPct val="127000"/>
              </a:lnSpc>
              <a:buNone/>
            </a:pPr>
            <a:r>
              <a:rPr lang="en-US" sz="850" dirty="0">
                <a:solidFill>
                  <a:srgbClr val="000000"/>
                </a:solidFill>
                <a:latin typeface="Lato" pitchFamily="34" charset="0"/>
                <a:ea typeface="Lato" pitchFamily="34" charset="-122"/>
                <a:cs typeface="Lato" pitchFamily="34" charset="-120"/>
              </a:rPr>
              <a:t> Next steps: Prioritise live data integration, ETL automation, and prototyping predictive SIP models to increase the dashboard’s strategic value.</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2026-06-12T12:58:41Z</dcterms:created>
  <dcterms:modified xsi:type="dcterms:W3CDTF">2026-06-12T12:58:41Z</dcterms:modified>
</cp:coreProperties>
</file>